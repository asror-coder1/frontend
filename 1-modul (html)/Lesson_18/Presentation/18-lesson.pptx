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handoutMasterIdLst>
    <p:handoutMasterId r:id="rId27"/>
  </p:handoutMasterIdLst>
  <p:sldIdLst>
    <p:sldId id="256" r:id="rId3"/>
    <p:sldId id="257" r:id="rId4"/>
    <p:sldId id="291" r:id="rId5"/>
    <p:sldId id="276" r:id="rId6"/>
    <p:sldId id="292" r:id="rId7"/>
    <p:sldId id="302" r:id="rId9"/>
    <p:sldId id="294" r:id="rId10"/>
    <p:sldId id="293" r:id="rId11"/>
    <p:sldId id="279" r:id="rId12"/>
    <p:sldId id="290" r:id="rId13"/>
    <p:sldId id="289" r:id="rId14"/>
    <p:sldId id="295" r:id="rId15"/>
    <p:sldId id="282" r:id="rId16"/>
    <p:sldId id="320" r:id="rId17"/>
    <p:sldId id="323" r:id="rId18"/>
    <p:sldId id="304" r:id="rId19"/>
    <p:sldId id="325" r:id="rId20"/>
    <p:sldId id="313" r:id="rId21"/>
    <p:sldId id="319" r:id="rId22"/>
    <p:sldId id="321" r:id="rId23"/>
    <p:sldId id="322" r:id="rId24"/>
    <p:sldId id="263" r:id="rId25"/>
    <p:sldId id="265" r:id="rId26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02020"/>
    <a:srgbClr val="B2B2B2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117" d="100"/>
          <a:sy n="117" d="100"/>
        </p:scale>
        <p:origin x="510" y="10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0" Type="http://schemas.openxmlformats.org/officeDocument/2006/relationships/tableStyles" Target="tableStyles.xml"/><Relationship Id="rId3" Type="http://schemas.openxmlformats.org/officeDocument/2006/relationships/slide" Target="slides/slide1.xml"/><Relationship Id="rId29" Type="http://schemas.openxmlformats.org/officeDocument/2006/relationships/viewProps" Target="viewProps.xml"/><Relationship Id="rId28" Type="http://schemas.openxmlformats.org/officeDocument/2006/relationships/presProps" Target="presProps.xml"/><Relationship Id="rId27" Type="http://schemas.openxmlformats.org/officeDocument/2006/relationships/handoutMaster" Target="handoutMasters/handoutMaster1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en-US" smtClean="0"/>
            </a:fld>
            <a:endParaRPr lang="en-US"/>
          </a:p>
        </p:txBody>
      </p:sp>
      <p:sp>
        <p:nvSpPr>
          <p:cNvPr id="4" name="Slide Image Placehoder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 Placeholder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мещающий образ слайда 1"/>
          <p:cNvSpPr/>
          <p:nvPr>
            <p:ph type="sldImg" idx="2"/>
          </p:nvPr>
        </p:nvSpPr>
        <p:spPr/>
      </p:sp>
      <p:sp>
        <p:nvSpPr>
          <p:cNvPr id="3" name="Замещающий текст 2"/>
          <p:cNvSpPr/>
          <p:nvPr>
            <p:ph type="body" idx="3"/>
          </p:nvPr>
        </p:nvSpPr>
        <p:spPr/>
        <p:txBody>
          <a:bodyPr/>
          <a:p>
            <a:endParaRPr lang="ru-RU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/>
                <a:latin typeface="Calibri Light" panose="020F0302020204030204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4" name="Date Placeholder 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Calibri Light" panose="020F0302020204030204" pitchFamily="34" charset="0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4400" b="1">
                <a:effectLst/>
                <a:latin typeface="Calibri Light" panose="020F0302020204030204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2pPr>
            <a:lvl3pPr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3pPr>
            <a:lvl4pPr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/>
              <a:t>Second level 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3750945"/>
            <a:ext cx="9843135" cy="811530"/>
          </a:xfrm>
        </p:spPr>
        <p:txBody>
          <a:bodyPr anchor="b">
            <a:noAutofit/>
          </a:bodyPr>
          <a:lstStyle>
            <a:lvl1pPr>
              <a:defRPr sz="6000">
                <a:effectLst/>
              </a:defRPr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 dirty="0" smtClean="0">
              <a:sym typeface="+mn-ea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Autofit/>
          </a:bodyPr>
          <a:lstStyle>
            <a:lvl1pPr marL="0" indent="0">
              <a:buNone/>
              <a:defRPr sz="2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4400" b="0" i="0">
                <a:effectLst/>
              </a:defRPr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lnSpc>
                <a:spcPct val="15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2pPr>
            <a:lvl3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3pPr>
            <a:lvl4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kumimoji="0" lang="en-US" sz="2800" b="0" i="0" u="none" strike="noStrike" kern="1200" cap="none" spc="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>
              <a:lnSpc>
                <a:spcPct val="15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>
                <a:sym typeface="+mn-ea"/>
              </a:rPr>
              <a:t>Second level</a:t>
            </a:r>
            <a:endParaRPr lang="en-US" dirty="0"/>
          </a:p>
          <a:p>
            <a:pPr lvl="2"/>
            <a:r>
              <a:rPr lang="en-US" dirty="0">
                <a:sym typeface="+mn-ea"/>
              </a:rPr>
              <a:t>Third level</a:t>
            </a:r>
            <a:endParaRPr lang="en-US" dirty="0"/>
          </a:p>
          <a:p>
            <a:pPr lvl="3"/>
            <a:r>
              <a:rPr lang="en-US" dirty="0">
                <a:sym typeface="+mn-ea"/>
              </a:rPr>
              <a:t>Fourth level</a:t>
            </a:r>
            <a:endParaRPr lang="en-US" dirty="0"/>
          </a:p>
          <a:p>
            <a:pPr lvl="4"/>
            <a:r>
              <a:rPr lang="en-US" dirty="0">
                <a:sym typeface="+mn-ea"/>
              </a:rPr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 sz="4400"/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en-US" dirty="0">
                <a:sym typeface="+mn-ea"/>
              </a:rPr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400" b="0">
                <a:effectLst/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3200" b="0">
                <a:effectLst/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en-US" dirty="0">
                <a:sym typeface="+mn-ea"/>
              </a:rPr>
              <a:t>Click to edit Master text styles</a:t>
            </a:r>
            <a:endParaRPr lang="en-US" dirty="0"/>
          </a:p>
          <a:p>
            <a:pPr lvl="1"/>
            <a:r>
              <a:rPr lang="en-US" dirty="0">
                <a:sym typeface="+mn-ea"/>
              </a:rPr>
              <a:t>Second level</a:t>
            </a:r>
            <a:endParaRPr lang="en-US" dirty="0"/>
          </a:p>
          <a:p>
            <a:pPr lvl="2"/>
            <a:r>
              <a:rPr lang="en-US" dirty="0">
                <a:sym typeface="+mn-ea"/>
              </a:rPr>
              <a:t>Third level</a:t>
            </a:r>
            <a:endParaRPr lang="en-US" dirty="0"/>
          </a:p>
          <a:p>
            <a:pPr lvl="3"/>
            <a:r>
              <a:rPr lang="en-US" dirty="0">
                <a:sym typeface="+mn-ea"/>
              </a:rPr>
              <a:t>Fourth level</a:t>
            </a:r>
            <a:endParaRPr lang="en-US" dirty="0"/>
          </a:p>
          <a:p>
            <a:pPr lvl="4"/>
            <a:r>
              <a:rPr lang="en-US" dirty="0">
                <a:sym typeface="+mn-ea"/>
              </a:rPr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 smtClean="0"/>
              <a:t>Second level</a:t>
            </a:r>
            <a:endParaRPr lang="en-US" dirty="0" smtClean="0"/>
          </a:p>
          <a:p>
            <a:pPr lvl="2"/>
            <a:r>
              <a:rPr lang="en-US" dirty="0" smtClean="0"/>
              <a:t>Third level</a:t>
            </a:r>
            <a:endParaRPr lang="en-US" dirty="0"/>
          </a:p>
          <a:p>
            <a:pPr lvl="3"/>
            <a:r>
              <a:rPr lang="en-US" dirty="0" smtClean="0"/>
              <a:t>Fourth level</a:t>
            </a:r>
            <a:endParaRPr lang="en-US" dirty="0"/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Calibri Light" panose="020F0302020204030204" pitchFamily="34" charset="0"/>
          <a:ea typeface="+mj-ea"/>
          <a:cs typeface="+mj-cs"/>
        </a:defRPr>
      </a:lvl1pPr>
    </p:titleStyle>
    <p:bodyStyle>
      <a:lvl1pPr marL="0" marR="0" indent="0" algn="l" defTabSz="914400" rtl="0" eaLnBrk="1" fontAlgn="auto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Tx/>
        <a:buFont typeface="Arial" panose="020B0604020202020204" pitchFamily="34" charset="0"/>
        <a:buNone/>
        <a:defRPr sz="2800" b="0" kern="1200">
          <a:solidFill>
            <a:schemeClr val="tx1"/>
          </a:solidFill>
          <a:latin typeface="Calibri Light" panose="020F030202020403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 baseline="0">
          <a:solidFill>
            <a:schemeClr val="tx1"/>
          </a:solidFill>
          <a:latin typeface="Calibri Light" panose="020F030202020403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5.png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6.jpeg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7.png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8.png"/><Relationship Id="rId1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9.png"/><Relationship Id="rId1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4.xml"/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4.xml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14.png"/><Relationship Id="rId1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4.xml"/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17.png"/><Relationship Id="rId1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18.png"/><Relationship Id="rId1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19.png"/><Relationship Id="rId1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4.xml"/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22.jpeg"/><Relationship Id="rId1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23.png"/><Relationship Id="rId1" Type="http://schemas.openxmlformats.org/officeDocument/2006/relationships/image" Target="../media/image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24.png"/><Relationship Id="rId1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25.png"/><Relationship Id="rId1" Type="http://schemas.openxmlformats.org/officeDocument/2006/relationships/image" Target="../media/image3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6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15085" y="2054482"/>
            <a:ext cx="9144000" cy="2187001"/>
          </a:xfrm>
        </p:spPr>
        <p:txBody>
          <a:bodyPr>
            <a:normAutofit/>
          </a:bodyPr>
          <a:lstStyle/>
          <a:p>
            <a:r>
              <a:rPr lang="en-US" b="1"/>
              <a:t>Formalar bilan ishlash</a:t>
            </a:r>
            <a:endParaRPr lang="en-US" b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47700" y="1607820"/>
            <a:ext cx="10515600" cy="1325563"/>
          </a:xfrm>
        </p:spPr>
        <p:txBody>
          <a:bodyPr/>
          <a:p>
            <a:r>
              <a:rPr lang="en-US" altLang="ru-RU"/>
              <a:t>Reja:</a:t>
            </a:r>
            <a:endParaRPr lang="en-US" altLang="ru-RU"/>
          </a:p>
        </p:txBody>
      </p:sp>
      <p:sp>
        <p:nvSpPr>
          <p:cNvPr id="3" name="Замещающее содержимое 2"/>
          <p:cNvSpPr/>
          <p:nvPr>
            <p:ph idx="1"/>
          </p:nvPr>
        </p:nvSpPr>
        <p:spPr/>
        <p:txBody>
          <a:bodyPr/>
          <a:p>
            <a:endParaRPr lang="ru-RU" altLang="en-US"/>
          </a:p>
        </p:txBody>
      </p:sp>
      <p:sp>
        <p:nvSpPr>
          <p:cNvPr id="4" name="Замещающее содержимое 4"/>
          <p:cNvSpPr/>
          <p:nvPr/>
        </p:nvSpPr>
        <p:spPr>
          <a:xfrm>
            <a:off x="647700" y="3039745"/>
            <a:ext cx="5770880" cy="34791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2800" b="0" kern="12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 baseline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Wingdings" panose="05000000000000000000" charset="0"/>
              <a:buChar char="Ø"/>
            </a:pPr>
            <a:r>
              <a:rPr lang="en-US" altLang="ru-RU"/>
              <a:t>Sayt formalari bilan tanishish</a:t>
            </a:r>
            <a:endParaRPr lang="en-US" altLang="ru-RU"/>
          </a:p>
          <a:p>
            <a:pPr marL="457200" indent="-457200">
              <a:buFont typeface="Wingdings" panose="05000000000000000000" charset="0"/>
              <a:buChar char="Ø"/>
            </a:pPr>
            <a:r>
              <a:rPr lang="en-US" altLang="ru-RU"/>
              <a:t>&lt;form&gt; tegi va qo’llanishi</a:t>
            </a:r>
            <a:endParaRPr lang="en-US" altLang="ru-RU"/>
          </a:p>
          <a:p>
            <a:pPr marL="457200" indent="-457200">
              <a:buFont typeface="Wingdings" panose="05000000000000000000" charset="0"/>
              <a:buChar char="Ø"/>
            </a:pPr>
            <a:r>
              <a:rPr lang="en-US" altLang="ru-RU"/>
              <a:t>&lt;form&gt; tegi atributlari</a:t>
            </a:r>
            <a:endParaRPr lang="en-US" altLang="ru-RU"/>
          </a:p>
          <a:p>
            <a:pPr>
              <a:buFont typeface="Wingdings" panose="05000000000000000000" charset="0"/>
            </a:pPr>
            <a:endParaRPr lang="en-US" altLang="ru-RU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ru-RU" b="1"/>
              <a:t>	HTML form</a:t>
            </a:r>
            <a:endParaRPr lang="en-US" altLang="ru-RU" b="1"/>
          </a:p>
        </p:txBody>
      </p:sp>
      <p:sp>
        <p:nvSpPr>
          <p:cNvPr id="3" name="Замещающее содержимое 2"/>
          <p:cNvSpPr/>
          <p:nvPr>
            <p:ph sz="half" idx="1"/>
          </p:nvPr>
        </p:nvSpPr>
        <p:spPr>
          <a:xfrm>
            <a:off x="647700" y="2816860"/>
            <a:ext cx="5181600" cy="4351338"/>
          </a:xfrm>
        </p:spPr>
        <p:txBody>
          <a:bodyPr/>
          <a:p>
            <a:r>
              <a:rPr lang="en-US" altLang="ru-RU"/>
              <a:t>HTML formalari foydalanuvchi haqida ma’lumot yig’ish uchun ishlatiladi.</a:t>
            </a:r>
            <a:endParaRPr lang="en-US" altLang="ru-RU"/>
          </a:p>
        </p:txBody>
      </p:sp>
      <p:pic>
        <p:nvPicPr>
          <p:cNvPr id="6" name="Замещающее содержимое 5"/>
          <p:cNvPicPr>
            <a:picLocks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806565" y="1825625"/>
            <a:ext cx="4356735" cy="435165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ru-RU" b="1"/>
              <a:t>	Sayt formalari</a:t>
            </a:r>
            <a:endParaRPr lang="en-US" altLang="ru-RU" b="1"/>
          </a:p>
        </p:txBody>
      </p:sp>
      <p:sp>
        <p:nvSpPr>
          <p:cNvPr id="5" name="Замещающее содержимое 4"/>
          <p:cNvSpPr/>
          <p:nvPr>
            <p:ph sz="half" idx="1"/>
          </p:nvPr>
        </p:nvSpPr>
        <p:spPr>
          <a:xfrm>
            <a:off x="647700" y="2620010"/>
            <a:ext cx="5181600" cy="2746375"/>
          </a:xfrm>
        </p:spPr>
        <p:txBody>
          <a:bodyPr>
            <a:normAutofit/>
          </a:bodyPr>
          <a:p>
            <a:pPr>
              <a:buFont typeface="Wingdings" panose="05000000000000000000" charset="0"/>
            </a:pPr>
            <a:r>
              <a:rPr lang="en-US" altLang="ru-RU">
                <a:solidFill>
                  <a:schemeClr val="tx1"/>
                </a:solidFill>
              </a:rPr>
              <a:t>Sayt formalarini ko’pgina saytlarda ko’rishimiz mumkin, xususan, pdp.uz saytida ham!</a:t>
            </a:r>
            <a:r>
              <a:rPr lang="en-US" altLang="ru-RU"/>
              <a:t> </a:t>
            </a:r>
            <a:endParaRPr lang="en-US" altLang="ru-RU"/>
          </a:p>
        </p:txBody>
      </p:sp>
      <p:pic>
        <p:nvPicPr>
          <p:cNvPr id="4" name="Замещающее содержимое 3"/>
          <p:cNvPicPr>
            <a:picLocks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827520" y="1457960"/>
            <a:ext cx="4335780" cy="507111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ru-RU" b="1"/>
              <a:t>	</a:t>
            </a:r>
            <a:endParaRPr lang="en-US" altLang="ru-RU" b="1"/>
          </a:p>
        </p:txBody>
      </p:sp>
      <p:sp>
        <p:nvSpPr>
          <p:cNvPr id="4" name="Замещающее содержимое 3"/>
          <p:cNvSpPr/>
          <p:nvPr>
            <p:ph sz="half" idx="1"/>
          </p:nvPr>
        </p:nvSpPr>
        <p:spPr>
          <a:xfrm>
            <a:off x="647700" y="2806065"/>
            <a:ext cx="5181600" cy="2360295"/>
          </a:xfrm>
        </p:spPr>
        <p:txBody>
          <a:bodyPr/>
          <a:p>
            <a:r>
              <a:rPr altLang="ru-RU"/>
              <a:t>Forma ma’lumotlari, asosan, qayta ishlash uchun serverga yuboriladi.</a:t>
            </a:r>
            <a:endParaRPr altLang="ru-RU"/>
          </a:p>
        </p:txBody>
      </p:sp>
      <p:pic>
        <p:nvPicPr>
          <p:cNvPr id="114" name="Замещающее содержимое 113"/>
          <p:cNvPicPr>
            <a:picLocks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713220" y="1924050"/>
            <a:ext cx="4450080" cy="445008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6" name="Заголовок 5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ru-RU" altLang="en-US"/>
          </a:p>
        </p:txBody>
      </p:sp>
      <p:sp>
        <p:nvSpPr>
          <p:cNvPr id="3" name="Замещающее содержимое 2"/>
          <p:cNvSpPr/>
          <p:nvPr>
            <p:ph sz="half" idx="1"/>
          </p:nvPr>
        </p:nvSpPr>
        <p:spPr>
          <a:xfrm>
            <a:off x="647700" y="2774315"/>
            <a:ext cx="5181600" cy="2204085"/>
          </a:xfrm>
        </p:spPr>
        <p:txBody>
          <a:bodyPr/>
          <a:p>
            <a:r>
              <a:rPr altLang="ru-RU"/>
              <a:t>Formalar yaratish uchun </a:t>
            </a:r>
            <a:r>
              <a:rPr altLang="ru-RU">
                <a:solidFill>
                  <a:srgbClr val="FF0000"/>
                </a:solidFill>
              </a:rPr>
              <a:t>&lt;form&gt;</a:t>
            </a:r>
            <a:r>
              <a:rPr altLang="ru-RU"/>
              <a:t> tegidan foydalanamiz.</a:t>
            </a:r>
            <a:endParaRPr altLang="ru-RU"/>
          </a:p>
        </p:txBody>
      </p:sp>
      <p:pic>
        <p:nvPicPr>
          <p:cNvPr id="5" name="Замещающее содержимое 4"/>
          <p:cNvPicPr>
            <a:picLocks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7167880" y="2667000"/>
            <a:ext cx="3447415" cy="219773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ru-RU" b="1"/>
              <a:t>	&lt;form&gt;</a:t>
            </a:r>
            <a:endParaRPr lang="en-US" altLang="ru-RU" b="1"/>
          </a:p>
        </p:txBody>
      </p:sp>
      <p:pic>
        <p:nvPicPr>
          <p:cNvPr id="102" name="Изображение 101"/>
          <p:cNvPicPr/>
          <p:nvPr/>
        </p:nvPicPr>
        <p:blipFill>
          <a:blip/>
          <a:stretch>
            <a:fillRect/>
          </a:stretch>
        </p:blipFill>
        <p:spPr>
          <a:xfrm>
            <a:off x="5905500" y="3238500"/>
            <a:ext cx="381000" cy="381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Замещающее содержимое 2"/>
          <p:cNvSpPr/>
          <p:nvPr>
            <p:ph sz="half" idx="1"/>
          </p:nvPr>
        </p:nvSpPr>
        <p:spPr/>
        <p:txBody>
          <a:bodyPr/>
          <a:p>
            <a:r>
              <a:rPr lang="ru-RU" altLang="en-US"/>
              <a:t>&lt;form&gt; elementi har xil turdagi kiritish elementlari uchun konteynerdir, masalan:</a:t>
            </a:r>
            <a:endParaRPr lang="ru-RU" altLang="en-US"/>
          </a:p>
          <a:p>
            <a:r>
              <a:rPr lang="ru-RU" altLang="en-US"/>
              <a:t> matn maydonlari, belgilash katakchalari, radio tugmalar, yuborish tugmalari va boshqalar.</a:t>
            </a:r>
            <a:endParaRPr lang="ru-RU" altLang="en-US"/>
          </a:p>
        </p:txBody>
      </p:sp>
      <p:pic>
        <p:nvPicPr>
          <p:cNvPr id="100" name="Замещающее содержимое 99"/>
          <p:cNvPicPr>
            <a:picLocks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550660" y="1825625"/>
            <a:ext cx="4879975" cy="485076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ru-RU" b="1"/>
              <a:t>	&lt;input&gt; elementi</a:t>
            </a:r>
            <a:endParaRPr lang="en-US" altLang="ru-RU" b="1"/>
          </a:p>
        </p:txBody>
      </p:sp>
      <p:sp>
        <p:nvSpPr>
          <p:cNvPr id="3" name="Замещающее содержимое 2"/>
          <p:cNvSpPr/>
          <p:nvPr>
            <p:ph sz="half" idx="1"/>
          </p:nvPr>
        </p:nvSpPr>
        <p:spPr>
          <a:xfrm>
            <a:off x="647700" y="1825625"/>
            <a:ext cx="4425950" cy="4351655"/>
          </a:xfrm>
        </p:spPr>
        <p:txBody>
          <a:bodyPr/>
          <a:p>
            <a:r>
              <a:rPr lang="en-US" altLang="ru-RU">
                <a:solidFill>
                  <a:srgbClr val="FF0000"/>
                </a:solidFill>
              </a:rPr>
              <a:t>&lt;input&gt;</a:t>
            </a:r>
            <a:r>
              <a:rPr lang="en-US" altLang="ru-RU"/>
              <a:t> tegi formaning eng ko’p ishlatiladigan qismi hisoblanadi.</a:t>
            </a:r>
            <a:endParaRPr lang="en-US" altLang="ru-RU"/>
          </a:p>
        </p:txBody>
      </p:sp>
      <p:pic>
        <p:nvPicPr>
          <p:cNvPr id="101" name="Замещающее содержимое 100"/>
          <p:cNvPicPr>
            <a:picLocks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314315" y="2064385"/>
            <a:ext cx="6134100" cy="34925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ru-RU" b="1"/>
              <a:t>&lt;input&gt; elementi</a:t>
            </a:r>
            <a:endParaRPr lang="en-US" altLang="ru-RU" b="1"/>
          </a:p>
        </p:txBody>
      </p:sp>
      <p:sp>
        <p:nvSpPr>
          <p:cNvPr id="4" name="Content Placeholder 3"/>
          <p:cNvSpPr/>
          <p:nvPr>
            <p:ph sz="half" idx="1"/>
          </p:nvPr>
        </p:nvSpPr>
        <p:spPr/>
        <p:txBody>
          <a:bodyPr/>
          <a:p>
            <a:r>
              <a:rPr lang="en-US" altLang="ru-RU"/>
              <a:t>&lt;input&gt; elementidan   text yozishdan boshqa yana bir nechta vazifalarda foydalansak bo’ladi.</a:t>
            </a:r>
            <a:endParaRPr lang="en-US" altLang="ru-RU"/>
          </a:p>
          <a:p>
            <a:r>
              <a:rPr lang="en-US" altLang="ru-RU"/>
              <a:t>Teg ichidagi “type” atributiga undan qanday maqsadda foydalanishimizni yozamiz.</a:t>
            </a:r>
            <a:endParaRPr lang="en-US" altLang="ru-RU"/>
          </a:p>
        </p:txBody>
      </p:sp>
      <p:pic>
        <p:nvPicPr>
          <p:cNvPr id="6" name="Замещающее содержимое 5"/>
          <p:cNvPicPr>
            <a:picLocks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619750" y="2174240"/>
            <a:ext cx="5543550" cy="1025525"/>
          </a:xfrm>
          <a:prstGeom prst="rect">
            <a:avLst/>
          </a:prstGeom>
        </p:spPr>
      </p:pic>
      <p:pic>
        <p:nvPicPr>
          <p:cNvPr id="7" name="Изображение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9890" y="3862705"/>
            <a:ext cx="4423410" cy="177673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ru-RU" b="1"/>
              <a:t>	</a:t>
            </a:r>
            <a:endParaRPr lang="en-US" altLang="ru-RU" b="1"/>
          </a:p>
        </p:txBody>
      </p:sp>
      <p:sp>
        <p:nvSpPr>
          <p:cNvPr id="5" name="Замещающее содержимое 4"/>
          <p:cNvSpPr/>
          <p:nvPr>
            <p:ph sz="half" idx="1"/>
          </p:nvPr>
        </p:nvSpPr>
        <p:spPr>
          <a:xfrm>
            <a:off x="647700" y="1825625"/>
            <a:ext cx="4723765" cy="4351655"/>
          </a:xfrm>
        </p:spPr>
        <p:txBody>
          <a:bodyPr>
            <a:normAutofit lnSpcReduction="20000"/>
          </a:bodyPr>
          <a:p>
            <a:pPr>
              <a:buFont typeface="Wingdings" panose="05000000000000000000" charset="0"/>
            </a:pPr>
            <a:endParaRPr lang="en-US" altLang="ru-RU"/>
          </a:p>
          <a:p>
            <a:pPr>
              <a:buFont typeface="Wingdings" panose="05000000000000000000" charset="0"/>
            </a:pPr>
            <a:r>
              <a:rPr lang="en-US" altLang="ru-RU"/>
              <a:t> </a:t>
            </a:r>
            <a:endParaRPr lang="en-US" altLang="ru-RU"/>
          </a:p>
        </p:txBody>
      </p:sp>
      <p:pic>
        <p:nvPicPr>
          <p:cNvPr id="104" name="Изображение 103"/>
          <p:cNvPicPr/>
          <p:nvPr/>
        </p:nvPicPr>
        <p:blipFill>
          <a:blip/>
          <a:stretch>
            <a:fillRect/>
          </a:stretch>
        </p:blipFill>
        <p:spPr>
          <a:xfrm>
            <a:off x="5905500" y="3238500"/>
            <a:ext cx="381000" cy="3810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" name="Изображение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4920" y="2529205"/>
            <a:ext cx="4265295" cy="1800225"/>
          </a:xfrm>
          <a:prstGeom prst="rect">
            <a:avLst/>
          </a:prstGeom>
        </p:spPr>
      </p:pic>
      <p:pic>
        <p:nvPicPr>
          <p:cNvPr id="7" name="Замещающее содержимое 6"/>
          <p:cNvPicPr>
            <a:picLocks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5946775" y="2652395"/>
            <a:ext cx="4678680" cy="177101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ru-RU" b="1"/>
              <a:t>	</a:t>
            </a:r>
            <a:endParaRPr lang="en-US" altLang="ru-RU" b="1"/>
          </a:p>
        </p:txBody>
      </p:sp>
      <p:sp>
        <p:nvSpPr>
          <p:cNvPr id="5" name="Замещающее содержимое 4"/>
          <p:cNvSpPr/>
          <p:nvPr>
            <p:ph sz="half" idx="1"/>
          </p:nvPr>
        </p:nvSpPr>
        <p:spPr>
          <a:xfrm>
            <a:off x="720725" y="2451735"/>
            <a:ext cx="4899660" cy="2192655"/>
          </a:xfrm>
        </p:spPr>
        <p:txBody>
          <a:bodyPr>
            <a:normAutofit/>
          </a:bodyPr>
          <a:p>
            <a:pPr>
              <a:buFont typeface="Wingdings" panose="05000000000000000000" charset="0"/>
            </a:pPr>
            <a:r>
              <a:rPr lang="en-US" altLang="ru-RU"/>
              <a:t> &lt;</a:t>
            </a:r>
            <a:r>
              <a:rPr lang="en-US" altLang="ru-RU">
                <a:sym typeface="+mn-ea"/>
              </a:rPr>
              <a:t>input&gt; ga nom berish uchun </a:t>
            </a:r>
            <a:r>
              <a:rPr lang="en-US" altLang="ru-RU">
                <a:solidFill>
                  <a:srgbClr val="FF0000"/>
                </a:solidFill>
                <a:sym typeface="+mn-ea"/>
              </a:rPr>
              <a:t>&lt;label&gt; </a:t>
            </a:r>
            <a:r>
              <a:rPr lang="en-US" altLang="ru-RU">
                <a:sym typeface="+mn-ea"/>
              </a:rPr>
              <a:t>tegidan foydalanamiz:</a:t>
            </a:r>
            <a:endParaRPr lang="en-US" altLang="ru-RU"/>
          </a:p>
          <a:p>
            <a:pPr>
              <a:buFont typeface="Wingdings" panose="05000000000000000000" charset="0"/>
            </a:pPr>
            <a:endParaRPr lang="en-US" altLang="ru-RU"/>
          </a:p>
        </p:txBody>
      </p:sp>
      <p:sp>
        <p:nvSpPr>
          <p:cNvPr id="6" name="Текстовое поле 5"/>
          <p:cNvSpPr txBox="1"/>
          <p:nvPr/>
        </p:nvSpPr>
        <p:spPr>
          <a:xfrm>
            <a:off x="1304925" y="397510"/>
            <a:ext cx="7455535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ru-RU" sz="4400" b="1"/>
              <a:t>&lt;label&gt; tegi</a:t>
            </a:r>
            <a:endParaRPr lang="en-US" altLang="ru-RU" sz="4400" b="1"/>
          </a:p>
        </p:txBody>
      </p:sp>
      <p:pic>
        <p:nvPicPr>
          <p:cNvPr id="7" name="Замещающее содержимое 6"/>
          <p:cNvPicPr>
            <a:picLocks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852285" y="1471295"/>
            <a:ext cx="4081145" cy="53111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pic>
        <p:nvPicPr>
          <p:cNvPr id="104" name="Изображение 103"/>
          <p:cNvPicPr/>
          <p:nvPr/>
        </p:nvPicPr>
        <p:blipFill>
          <a:blip/>
          <a:stretch>
            <a:fillRect/>
          </a:stretch>
        </p:blipFill>
        <p:spPr>
          <a:xfrm>
            <a:off x="5905500" y="3238500"/>
            <a:ext cx="381000" cy="3810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" name="Замещающее содержимое 3"/>
          <p:cNvPicPr>
            <a:picLocks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770255" y="2581910"/>
            <a:ext cx="5005705" cy="2366645"/>
          </a:xfrm>
          <a:prstGeom prst="rect">
            <a:avLst/>
          </a:prstGeom>
        </p:spPr>
      </p:pic>
      <p:pic>
        <p:nvPicPr>
          <p:cNvPr id="7" name="Замещающее содержимое 6"/>
          <p:cNvPicPr>
            <a:picLocks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5966460" y="3238500"/>
            <a:ext cx="5339080" cy="116903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ru-RU" b="1"/>
              <a:t>input va labelni ulash	</a:t>
            </a:r>
            <a:endParaRPr lang="en-US" altLang="ru-RU" b="1"/>
          </a:p>
        </p:txBody>
      </p:sp>
      <p:sp>
        <p:nvSpPr>
          <p:cNvPr id="3" name="Замещающее содержимое 2"/>
          <p:cNvSpPr/>
          <p:nvPr>
            <p:ph sz="half" idx="1"/>
          </p:nvPr>
        </p:nvSpPr>
        <p:spPr>
          <a:xfrm>
            <a:off x="647700" y="1825625"/>
            <a:ext cx="10515600" cy="2443480"/>
          </a:xfrm>
        </p:spPr>
        <p:txBody>
          <a:bodyPr/>
          <a:p>
            <a:r>
              <a:rPr lang="en-US" altLang="ru-RU"/>
              <a:t>input va labelni ulash uchun,  labelning “for” atributi bilan inputning “id” atributiga bir xil qiymat beriladi.</a:t>
            </a:r>
            <a:endParaRPr lang="en-US" altLang="ru-RU"/>
          </a:p>
        </p:txBody>
      </p:sp>
      <p:pic>
        <p:nvPicPr>
          <p:cNvPr id="7" name="Замещающее содержимое 6"/>
          <p:cNvPicPr>
            <a:picLocks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1863090" y="3429000"/>
            <a:ext cx="7963535" cy="286893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5" name="Замещающее содержимое 4"/>
          <p:cNvSpPr/>
          <p:nvPr>
            <p:ph sz="half" idx="1"/>
          </p:nvPr>
        </p:nvSpPr>
        <p:spPr>
          <a:xfrm>
            <a:off x="1083945" y="2272665"/>
            <a:ext cx="9364345" cy="1525905"/>
          </a:xfrm>
        </p:spPr>
        <p:txBody>
          <a:bodyPr>
            <a:normAutofit/>
          </a:bodyPr>
          <a:p>
            <a:pPr>
              <a:buFont typeface="Wingdings" panose="05000000000000000000" charset="0"/>
            </a:pPr>
            <a:r>
              <a:rPr lang="en-US" altLang="ru-RU">
                <a:solidFill>
                  <a:schemeClr val="tx1"/>
                </a:solidFill>
              </a:rPr>
              <a:t>Backendga ma’lumotlar  to’g’ri borishi uchun  inputning “name” atributidan foydalanamiz:</a:t>
            </a:r>
            <a:endParaRPr lang="en-US" altLang="ru-RU">
              <a:solidFill>
                <a:schemeClr val="tx1"/>
              </a:solidFill>
            </a:endParaRPr>
          </a:p>
          <a:p>
            <a:pPr>
              <a:buFont typeface="Wingdings" panose="05000000000000000000" charset="0"/>
            </a:pPr>
            <a:endParaRPr lang="en-US" altLang="ru-RU">
              <a:solidFill>
                <a:schemeClr val="tx1"/>
              </a:solidFill>
            </a:endParaRPr>
          </a:p>
        </p:txBody>
      </p:sp>
      <p:sp>
        <p:nvSpPr>
          <p:cNvPr id="7" name="Заголовок 6"/>
          <p:cNvSpPr/>
          <p:nvPr>
            <p:ph type="title"/>
          </p:nvPr>
        </p:nvSpPr>
        <p:spPr/>
        <p:txBody>
          <a:bodyPr/>
          <a:p>
            <a:r>
              <a:rPr lang="en-US" altLang="ru-RU" b="1"/>
              <a:t>	“name” atributi</a:t>
            </a:r>
            <a:endParaRPr lang="en-US" altLang="ru-RU" b="1"/>
          </a:p>
        </p:txBody>
      </p:sp>
      <p:pic>
        <p:nvPicPr>
          <p:cNvPr id="3" name="Замещающее содержимое 2"/>
          <p:cNvPicPr>
            <a:picLocks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1840230" y="3714115"/>
            <a:ext cx="8770620" cy="251650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5" name="Замещающее содержимое 4"/>
          <p:cNvSpPr/>
          <p:nvPr>
            <p:ph sz="half" idx="1"/>
          </p:nvPr>
        </p:nvSpPr>
        <p:spPr>
          <a:xfrm>
            <a:off x="1083945" y="2272665"/>
            <a:ext cx="9207500" cy="1572260"/>
          </a:xfrm>
        </p:spPr>
        <p:txBody>
          <a:bodyPr>
            <a:normAutofit/>
          </a:bodyPr>
          <a:p>
            <a:pPr>
              <a:buFont typeface="Wingdings" panose="05000000000000000000" charset="0"/>
            </a:pPr>
            <a:r>
              <a:rPr lang="en-US" altLang="ru-RU">
                <a:solidFill>
                  <a:schemeClr val="tx1"/>
                </a:solidFill>
              </a:rPr>
              <a:t>Bosganimizda ma’lumotlarni jo’natadigan &lt;button&gt; yaratamiz. Uning typi “submit” bo’lishi kerak:</a:t>
            </a:r>
            <a:endParaRPr lang="en-US" altLang="ru-RU">
              <a:solidFill>
                <a:schemeClr val="tx1"/>
              </a:solidFill>
            </a:endParaRPr>
          </a:p>
        </p:txBody>
      </p:sp>
      <p:sp>
        <p:nvSpPr>
          <p:cNvPr id="7" name="Заголовок 6"/>
          <p:cNvSpPr/>
          <p:nvPr>
            <p:ph type="title"/>
          </p:nvPr>
        </p:nvSpPr>
        <p:spPr/>
        <p:txBody>
          <a:bodyPr/>
          <a:p>
            <a:endParaRPr lang="ru-RU" altLang="en-US"/>
          </a:p>
        </p:txBody>
      </p:sp>
      <p:pic>
        <p:nvPicPr>
          <p:cNvPr id="3" name="Замещающее содержимое 2"/>
          <p:cNvPicPr>
            <a:picLocks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1810385" y="3754755"/>
            <a:ext cx="8877300" cy="273748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8" name="Заголовок 7"/>
          <p:cNvSpPr/>
          <p:nvPr>
            <p:ph type="title"/>
          </p:nvPr>
        </p:nvSpPr>
        <p:spPr>
          <a:xfrm>
            <a:off x="2310765" y="2658110"/>
            <a:ext cx="7198995" cy="1741170"/>
          </a:xfrm>
        </p:spPr>
        <p:txBody>
          <a:bodyPr>
            <a:noAutofit/>
          </a:bodyPr>
          <a:p>
            <a:r>
              <a:rPr lang="en-US" altLang="ru-RU" sz="7200" b="1"/>
              <a:t>&lt;form&gt; atributlari</a:t>
            </a:r>
            <a:endParaRPr lang="en-US" altLang="ru-RU" sz="7200" b="1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ru-RU" b="1"/>
              <a:t>“autocomplete” atributi</a:t>
            </a:r>
            <a:endParaRPr lang="en-US" altLang="ru-RU" b="1"/>
          </a:p>
        </p:txBody>
      </p:sp>
      <p:sp>
        <p:nvSpPr>
          <p:cNvPr id="4" name="Content Placeholder 3"/>
          <p:cNvSpPr/>
          <p:nvPr>
            <p:ph sz="half" idx="1"/>
          </p:nvPr>
        </p:nvSpPr>
        <p:spPr/>
        <p:txBody>
          <a:bodyPr/>
          <a:p>
            <a:r>
              <a:rPr lang="en-US" altLang="ru-RU"/>
              <a:t>“autocomplete” atributi formaning avtomatik to'ldirishni yoqish yoki o'chirish kerakligini belgilaydi.</a:t>
            </a:r>
            <a:endParaRPr lang="en-US" altLang="ru-RU"/>
          </a:p>
        </p:txBody>
      </p:sp>
      <p:pic>
        <p:nvPicPr>
          <p:cNvPr id="5" name="Замещающее содержимое 4"/>
          <p:cNvPicPr>
            <a:picLocks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951865" y="4008120"/>
            <a:ext cx="4427220" cy="2628900"/>
          </a:xfrm>
          <a:prstGeom prst="rect">
            <a:avLst/>
          </a:prstGeom>
        </p:spPr>
      </p:pic>
      <p:pic>
        <p:nvPicPr>
          <p:cNvPr id="8" name="Изображение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9630" y="2132330"/>
            <a:ext cx="5233670" cy="4191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5" name="Замещающее содержимое 4"/>
          <p:cNvSpPr/>
          <p:nvPr>
            <p:ph sz="half" idx="1"/>
          </p:nvPr>
        </p:nvSpPr>
        <p:spPr>
          <a:xfrm>
            <a:off x="647700" y="1825625"/>
            <a:ext cx="5520690" cy="4351655"/>
          </a:xfrm>
        </p:spPr>
        <p:txBody>
          <a:bodyPr>
            <a:normAutofit lnSpcReduction="20000"/>
          </a:bodyPr>
          <a:p>
            <a:pPr>
              <a:buFont typeface="Wingdings" panose="05000000000000000000" charset="0"/>
            </a:pPr>
            <a:r>
              <a:rPr lang="en-US" altLang="ru-RU">
                <a:solidFill>
                  <a:schemeClr val="tx1"/>
                </a:solidFill>
              </a:rPr>
              <a:t>Biz formadan backend bilan ma’lumot almashish uchun foydalanamiz. </a:t>
            </a:r>
            <a:endParaRPr lang="en-US" altLang="ru-RU">
              <a:solidFill>
                <a:schemeClr val="tx1"/>
              </a:solidFill>
            </a:endParaRPr>
          </a:p>
          <a:p>
            <a:pPr marL="457200" indent="-457200">
              <a:buFont typeface="Wingdings" panose="05000000000000000000" charset="0"/>
              <a:buChar char="v"/>
            </a:pPr>
            <a:r>
              <a:rPr lang="en-US" altLang="ru-RU">
                <a:solidFill>
                  <a:schemeClr val="tx1"/>
                </a:solidFill>
              </a:rPr>
              <a:t>GET - ma’lumotlarni olish uchun</a:t>
            </a:r>
            <a:endParaRPr lang="en-US" altLang="ru-RU">
              <a:solidFill>
                <a:schemeClr val="tx1"/>
              </a:solidFill>
            </a:endParaRPr>
          </a:p>
          <a:p>
            <a:pPr marL="457200" indent="-457200">
              <a:buFont typeface="Wingdings" panose="05000000000000000000" charset="0"/>
              <a:buChar char="v"/>
            </a:pPr>
            <a:r>
              <a:rPr lang="en-US" altLang="ru-RU">
                <a:solidFill>
                  <a:schemeClr val="tx1"/>
                </a:solidFill>
              </a:rPr>
              <a:t>POST - ma’lumotlarni jo’natish uchun</a:t>
            </a:r>
            <a:endParaRPr lang="en-US" altLang="ru-RU">
              <a:solidFill>
                <a:schemeClr val="tx1"/>
              </a:solidFill>
            </a:endParaRPr>
          </a:p>
          <a:p>
            <a:pPr>
              <a:buFont typeface="Wingdings" panose="05000000000000000000" charset="0"/>
            </a:pPr>
            <a:endParaRPr lang="en-US" altLang="ru-RU">
              <a:solidFill>
                <a:schemeClr val="tx1"/>
              </a:solidFill>
            </a:endParaRPr>
          </a:p>
        </p:txBody>
      </p:sp>
      <p:sp>
        <p:nvSpPr>
          <p:cNvPr id="7" name="Заголовок 6"/>
          <p:cNvSpPr/>
          <p:nvPr>
            <p:ph type="title"/>
          </p:nvPr>
        </p:nvSpPr>
        <p:spPr/>
        <p:txBody>
          <a:bodyPr/>
          <a:p>
            <a:r>
              <a:rPr lang="en-US" altLang="ru-RU" b="1"/>
              <a:t>“method” atributi</a:t>
            </a:r>
            <a:endParaRPr lang="en-US" altLang="ru-RU" b="1"/>
          </a:p>
        </p:txBody>
      </p:sp>
      <p:pic>
        <p:nvPicPr>
          <p:cNvPr id="102" name="Замещающее содержимое 101"/>
          <p:cNvPicPr>
            <a:picLocks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070600" y="2353310"/>
            <a:ext cx="5858510" cy="32956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5" name="Замещающее содержимое 4"/>
          <p:cNvSpPr/>
          <p:nvPr>
            <p:ph sz="half" idx="1"/>
          </p:nvPr>
        </p:nvSpPr>
        <p:spPr>
          <a:xfrm>
            <a:off x="1083945" y="2574925"/>
            <a:ext cx="4420870" cy="2312670"/>
          </a:xfrm>
        </p:spPr>
        <p:txBody>
          <a:bodyPr>
            <a:normAutofit/>
          </a:bodyPr>
          <a:p>
            <a:pPr>
              <a:buFont typeface="Wingdings" panose="05000000000000000000" charset="0"/>
            </a:pPr>
            <a:r>
              <a:rPr lang="en-US" altLang="ru-RU">
                <a:solidFill>
                  <a:schemeClr val="tx1"/>
                </a:solidFill>
              </a:rPr>
              <a:t>“POST” metodimiz backendga ma’lumotlarni jo’natish uchun ishlatiladi. </a:t>
            </a:r>
            <a:endParaRPr lang="en-US" altLang="ru-RU">
              <a:solidFill>
                <a:schemeClr val="tx1"/>
              </a:solidFill>
            </a:endParaRPr>
          </a:p>
          <a:p>
            <a:pPr>
              <a:buFont typeface="Wingdings" panose="05000000000000000000" charset="0"/>
            </a:pPr>
            <a:endParaRPr lang="en-US" altLang="ru-RU">
              <a:solidFill>
                <a:schemeClr val="tx1"/>
              </a:solidFill>
            </a:endParaRPr>
          </a:p>
        </p:txBody>
      </p:sp>
      <p:sp>
        <p:nvSpPr>
          <p:cNvPr id="7" name="Заголовок 6"/>
          <p:cNvSpPr/>
          <p:nvPr>
            <p:ph type="title"/>
          </p:nvPr>
        </p:nvSpPr>
        <p:spPr/>
        <p:txBody>
          <a:bodyPr/>
          <a:p>
            <a:r>
              <a:rPr lang="en-US" altLang="ru-RU" b="1"/>
              <a:t>method = “POST”</a:t>
            </a:r>
            <a:endParaRPr lang="en-US" altLang="ru-RU" b="1"/>
          </a:p>
        </p:txBody>
      </p:sp>
      <p:pic>
        <p:nvPicPr>
          <p:cNvPr id="3" name="Замещающее содержимое 2"/>
          <p:cNvPicPr>
            <a:picLocks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682615" y="2739390"/>
            <a:ext cx="5480685" cy="23780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5" name="Замещающее содержимое 4"/>
          <p:cNvSpPr/>
          <p:nvPr>
            <p:ph sz="half" idx="1"/>
          </p:nvPr>
        </p:nvSpPr>
        <p:spPr>
          <a:xfrm>
            <a:off x="1083945" y="2012315"/>
            <a:ext cx="9239250" cy="1561465"/>
          </a:xfrm>
        </p:spPr>
        <p:txBody>
          <a:bodyPr>
            <a:normAutofit/>
          </a:bodyPr>
          <a:p>
            <a:pPr>
              <a:buFont typeface="Wingdings" panose="05000000000000000000" charset="0"/>
            </a:pPr>
            <a:r>
              <a:rPr lang="en-US" altLang="ru-RU">
                <a:solidFill>
                  <a:schemeClr val="tx1"/>
                </a:solidFill>
              </a:rPr>
              <a:t>“action” atributiga ma’lumotlarimiz qayerga ketishi kerakligini kiritamiz:</a:t>
            </a:r>
            <a:endParaRPr lang="en-US" altLang="ru-RU">
              <a:solidFill>
                <a:schemeClr val="tx1"/>
              </a:solidFill>
            </a:endParaRPr>
          </a:p>
        </p:txBody>
      </p:sp>
      <p:sp>
        <p:nvSpPr>
          <p:cNvPr id="7" name="Заголовок 6"/>
          <p:cNvSpPr/>
          <p:nvPr>
            <p:ph type="title"/>
          </p:nvPr>
        </p:nvSpPr>
        <p:spPr/>
        <p:txBody>
          <a:bodyPr/>
          <a:p>
            <a:r>
              <a:rPr lang="en-US" altLang="ru-RU" b="1"/>
              <a:t>“action” atributi</a:t>
            </a:r>
            <a:endParaRPr lang="en-US" altLang="ru-RU" b="1"/>
          </a:p>
        </p:txBody>
      </p:sp>
      <p:pic>
        <p:nvPicPr>
          <p:cNvPr id="3" name="Замещающее содержимое 2"/>
          <p:cNvPicPr>
            <a:picLocks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2087245" y="3429000"/>
            <a:ext cx="9076055" cy="293116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5" name="Замещающее содержимое 4"/>
          <p:cNvSpPr/>
          <p:nvPr>
            <p:ph sz="half" idx="1"/>
          </p:nvPr>
        </p:nvSpPr>
        <p:spPr>
          <a:xfrm>
            <a:off x="1083945" y="2272665"/>
            <a:ext cx="4420870" cy="2312670"/>
          </a:xfrm>
        </p:spPr>
        <p:txBody>
          <a:bodyPr>
            <a:normAutofit/>
          </a:bodyPr>
          <a:p>
            <a:pPr>
              <a:buFont typeface="Wingdings" panose="05000000000000000000" charset="0"/>
            </a:pPr>
            <a:r>
              <a:rPr lang="en-US" altLang="ru-RU">
                <a:solidFill>
                  <a:schemeClr val="tx1"/>
                </a:solidFill>
              </a:rPr>
              <a:t>https://echo.htmlacademy.ru</a:t>
            </a:r>
            <a:endParaRPr lang="en-US" altLang="ru-RU">
              <a:solidFill>
                <a:schemeClr val="tx1"/>
              </a:solidFill>
            </a:endParaRPr>
          </a:p>
        </p:txBody>
      </p:sp>
      <p:sp>
        <p:nvSpPr>
          <p:cNvPr id="7" name="Заголовок 6"/>
          <p:cNvSpPr/>
          <p:nvPr>
            <p:ph type="title"/>
          </p:nvPr>
        </p:nvSpPr>
        <p:spPr/>
        <p:txBody>
          <a:bodyPr/>
          <a:p>
            <a:endParaRPr lang="ru-RU" altLang="en-US"/>
          </a:p>
        </p:txBody>
      </p:sp>
      <p:pic>
        <p:nvPicPr>
          <p:cNvPr id="3" name="Замещающее содержимое 2"/>
          <p:cNvPicPr>
            <a:picLocks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4358640" y="3154045"/>
            <a:ext cx="6804660" cy="319659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ru-RU" altLang="en-US"/>
          </a:p>
        </p:txBody>
      </p:sp>
      <p:sp>
        <p:nvSpPr>
          <p:cNvPr id="5" name="Замещающее содержимое 4"/>
          <p:cNvSpPr/>
          <p:nvPr>
            <p:ph idx="1"/>
          </p:nvPr>
        </p:nvSpPr>
        <p:spPr>
          <a:xfrm>
            <a:off x="647700" y="2690495"/>
            <a:ext cx="6578600" cy="2624455"/>
          </a:xfrm>
        </p:spPr>
        <p:txBody>
          <a:bodyPr>
            <a:normAutofit/>
          </a:bodyPr>
          <a:p>
            <a:r>
              <a:rPr lang="en-US" altLang="ru-RU"/>
              <a:t>Ko’p sahifali sayt yaratish va oxirgi sahifasida formalardan foydalanish</a:t>
            </a:r>
            <a:endParaRPr lang="en-US" altLang="ru-RU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ru-RU" altLang="en-US"/>
          </a:p>
        </p:txBody>
      </p:sp>
      <p:sp>
        <p:nvSpPr>
          <p:cNvPr id="5" name="Замещающее содержимое 4"/>
          <p:cNvSpPr/>
          <p:nvPr>
            <p:ph idx="1"/>
          </p:nvPr>
        </p:nvSpPr>
        <p:spPr/>
        <p:txBody>
          <a:bodyPr/>
          <a:p>
            <a:endParaRPr lang="ru-RU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微软雅黑"/>
        <a:ea typeface=""/>
        <a:cs typeface=""/>
        <a:font script="Jpan" typeface="游ゴシック Light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游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1831</Words>
  <Application>WPS Presentation</Application>
  <PresentationFormat>宽屏</PresentationFormat>
  <Paragraphs>85</Paragraphs>
  <Slides>23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32" baseType="lpstr">
      <vt:lpstr>Arial</vt:lpstr>
      <vt:lpstr>SimSun</vt:lpstr>
      <vt:lpstr>Wingdings</vt:lpstr>
      <vt:lpstr>Calibri Light</vt:lpstr>
      <vt:lpstr>Wingdings</vt:lpstr>
      <vt:lpstr>Microsoft YaHei</vt:lpstr>
      <vt:lpstr>Arial Unicode MS</vt:lpstr>
      <vt:lpstr>Calibri</vt:lpstr>
      <vt:lpstr>Office Theme</vt:lpstr>
      <vt:lpstr>Formalar bilan ishlash</vt:lpstr>
      <vt:lpstr>Reja:</vt:lpstr>
      <vt:lpstr>	HTML form</vt:lpstr>
      <vt:lpstr>	Sayt formalari</vt:lpstr>
      <vt:lpstr>	</vt:lpstr>
      <vt:lpstr>PowerPoint 演示文稿</vt:lpstr>
      <vt:lpstr>	&lt;source&gt; tegi</vt:lpstr>
      <vt:lpstr>	muted</vt:lpstr>
      <vt:lpstr>Lokatsiya joylashtirish</vt:lpstr>
      <vt:lpstr>	</vt:lpstr>
      <vt:lpstr>	</vt:lpstr>
      <vt:lpstr>	web-sahifa ichida web-sahifa</vt:lpstr>
      <vt:lpstr>	</vt:lpstr>
      <vt:lpstr>PowerPoint 演示文稿</vt:lpstr>
      <vt:lpstr>PowerPoint 演示文稿</vt:lpstr>
      <vt:lpstr>PowerPoint 演示文稿</vt:lpstr>
      <vt:lpstr>“autocomplete” atributi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Nurmuhammad Ikromov</cp:lastModifiedBy>
  <cp:revision>15</cp:revision>
  <dcterms:created xsi:type="dcterms:W3CDTF">2023-08-17T08:58:00Z</dcterms:created>
  <dcterms:modified xsi:type="dcterms:W3CDTF">2023-09-25T04:38:40Z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1049-12.2.0.13215</vt:lpwstr>
  </property>
  <property fmtid="{D5CDD505-2E9C-101B-9397-08002B2CF9AE}" pid="3" name="ICV">
    <vt:lpwstr>943A448D912B4813B95380A7CFB7D2F9_13</vt:lpwstr>
  </property>
</Properties>
</file>