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3"/>
    <p:sldId id="257" r:id="rId4"/>
    <p:sldId id="258" r:id="rId5"/>
    <p:sldId id="259" r:id="rId6"/>
    <p:sldId id="260" r:id="rId7"/>
    <p:sldId id="261" r:id="rId8"/>
    <p:sldId id="284" r:id="rId9"/>
    <p:sldId id="285" r:id="rId10"/>
    <p:sldId id="273" r:id="rId11"/>
    <p:sldId id="288" r:id="rId12"/>
    <p:sldId id="287" r:id="rId13"/>
    <p:sldId id="286" r:id="rId14"/>
    <p:sldId id="262" r:id="rId15"/>
    <p:sldId id="274" r:id="rId16"/>
    <p:sldId id="264" r:id="rId17"/>
    <p:sldId id="275" r:id="rId18"/>
    <p:sldId id="266" r:id="rId19"/>
    <p:sldId id="263" r:id="rId20"/>
    <p:sldId id="265" r:id="rId21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60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jpe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5.png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7.png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/>
              <a:t>&lt;a&gt;, &lt;h&gt;, &lt;hr&gt;</a:t>
            </a:r>
            <a:endParaRPr lang="en-US" b="1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8180" y="1180465"/>
            <a:ext cx="10515600" cy="1325563"/>
          </a:xfrm>
        </p:spPr>
        <p:txBody>
          <a:bodyPr/>
          <a:p>
            <a:r>
              <a:rPr lang="en-US" altLang="ru-RU"/>
              <a:t>Reja:</a:t>
            </a:r>
            <a:endParaRPr lang="en-US" altLang="ru-RU"/>
          </a:p>
        </p:txBody>
      </p:sp>
      <p:sp>
        <p:nvSpPr>
          <p:cNvPr id="5" name="Замещающее содержимое 4"/>
          <p:cNvSpPr/>
          <p:nvPr>
            <p:ph idx="1"/>
          </p:nvPr>
        </p:nvSpPr>
        <p:spPr>
          <a:xfrm>
            <a:off x="678180" y="2506345"/>
            <a:ext cx="4795520" cy="4351655"/>
          </a:xfrm>
        </p:spPr>
        <p:txBody>
          <a:bodyPr/>
          <a:p>
            <a:pPr marL="457200" indent="-457200">
              <a:buFont typeface="Wingdings" panose="05000000000000000000" charset="0"/>
              <a:buChar char="Ø"/>
            </a:pPr>
            <a:r>
              <a:rPr lang="en-US" altLang="ru-RU"/>
              <a:t>&lt;a&gt; tegi 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ru-RU"/>
              <a:t>Sarlavha teglari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ru-RU"/>
              <a:t>&lt;hr&gt; tegi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ru-RU"/>
              <a:t>Ulardan foydalanish uchun mashqlar</a:t>
            </a:r>
            <a:endParaRPr lang="en-US" alt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/>
              <a:t>&lt;a&gt; tegi</a:t>
            </a:r>
            <a:endParaRPr lang="en-US" altLang="ru-RU"/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648335" y="2208530"/>
            <a:ext cx="6483985" cy="3585845"/>
          </a:xfrm>
        </p:spPr>
        <p:txBody>
          <a:bodyPr/>
          <a:p>
            <a:r>
              <a:rPr lang="ru-RU" altLang="en-US">
                <a:solidFill>
                  <a:srgbClr val="FF0000"/>
                </a:solidFill>
              </a:rPr>
              <a:t>&lt;a href=“…”&gt;…&lt;/a&gt;</a:t>
            </a:r>
            <a:r>
              <a:rPr lang="ru-RU" altLang="en-US"/>
              <a:t> - bu link tegi boshqa veb-sahifaga</a:t>
            </a:r>
            <a:r>
              <a:rPr lang="en-US" altLang="ru-RU"/>
              <a:t> </a:t>
            </a:r>
            <a:r>
              <a:rPr lang="ru-RU" altLang="en-US"/>
              <a:t>yoki o'sha veb-sahifaning</a:t>
            </a:r>
            <a:endParaRPr lang="ru-RU" altLang="en-US"/>
          </a:p>
          <a:p>
            <a:r>
              <a:rPr lang="ru-RU" altLang="en-US"/>
              <a:t>boshqa</a:t>
            </a:r>
            <a:r>
              <a:rPr lang="en-US" altLang="ru-RU"/>
              <a:t> </a:t>
            </a:r>
            <a:r>
              <a:rPr lang="ru-RU" altLang="en-US"/>
              <a:t>joyiga ko'prik yaratish uchun foydalaniladi.</a:t>
            </a:r>
            <a:endParaRPr lang="ru-RU" altLang="en-US"/>
          </a:p>
        </p:txBody>
      </p:sp>
      <p:pic>
        <p:nvPicPr>
          <p:cNvPr id="101" name="Замещающее содержимое 100"/>
          <p:cNvPicPr/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132320" y="1885950"/>
            <a:ext cx="4122420" cy="390779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br>
              <a:rPr lang="ru-RU" altLang="en-US" dirty="0"/>
            </a:br>
            <a:endParaRPr lang="ru-RU" altLang="en-US"/>
          </a:p>
        </p:txBody>
      </p:sp>
      <p:sp>
        <p:nvSpPr>
          <p:cNvPr id="5" name="Замещающее содержимое 4"/>
          <p:cNvSpPr/>
          <p:nvPr>
            <p:ph idx="1"/>
          </p:nvPr>
        </p:nvSpPr>
        <p:spPr>
          <a:xfrm>
            <a:off x="708025" y="1885950"/>
            <a:ext cx="3701415" cy="4351655"/>
          </a:xfrm>
        </p:spPr>
        <p:txBody>
          <a:bodyPr/>
          <a:p>
            <a:endParaRPr lang="ru-RU" altLang="en-US"/>
          </a:p>
        </p:txBody>
      </p:sp>
      <p:pic>
        <p:nvPicPr>
          <p:cNvPr id="100" name="Замещающее содержимое 99"/>
          <p:cNvPicPr/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08660" y="1407160"/>
            <a:ext cx="10673080" cy="54508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Скругленный прямоугольник 2"/>
          <p:cNvSpPr/>
          <p:nvPr/>
        </p:nvSpPr>
        <p:spPr>
          <a:xfrm>
            <a:off x="647700" y="171450"/>
            <a:ext cx="10733405" cy="123571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3200" dirty="0" smtClean="0">
                <a:solidFill>
                  <a:schemeClr val="tx1"/>
                </a:solidFill>
                <a:sym typeface="+mn-ea"/>
              </a:rPr>
              <a:t>Atributlar –  tegni oldiga yozilib, teglarni siz xohlagan ko’rinishga olib kelish uchun ishlatiladi</a:t>
            </a:r>
            <a:r>
              <a:rPr lang="en-US" altLang="en-US" dirty="0" smtClean="0">
                <a:solidFill>
                  <a:schemeClr val="tx1"/>
                </a:solidFill>
                <a:sym typeface="+mn-ea"/>
              </a:rPr>
              <a:t>.</a:t>
            </a:r>
            <a:endParaRPr lang="en-US" altLang="en-US" dirty="0" smtClean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5" name="Замещающее содержимое 4"/>
          <p:cNvSpPr/>
          <p:nvPr>
            <p:ph idx="1"/>
          </p:nvPr>
        </p:nvSpPr>
        <p:spPr>
          <a:xfrm>
            <a:off x="647700" y="1825625"/>
            <a:ext cx="6297930" cy="4351655"/>
          </a:xfrm>
        </p:spPr>
        <p:txBody>
          <a:bodyPr/>
          <a:p>
            <a:r>
              <a:rPr lang="ru-RU" altLang="en-US"/>
              <a:t>Odatiy </a:t>
            </a:r>
            <a:r>
              <a:rPr lang="en-US" altLang="ru-RU"/>
              <a:t>holatda</a:t>
            </a:r>
            <a:r>
              <a:rPr lang="ru-RU" altLang="en-US"/>
              <a:t> barcha brauzerlarda havolalar quyidagicha ko'rinadi</a:t>
            </a:r>
            <a:r>
              <a:rPr lang="en-US" altLang="ru-RU"/>
              <a:t>: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ru-RU"/>
              <a:t> Ko'rilmagan havola tagiga chizilgan va </a:t>
            </a:r>
            <a:r>
              <a:rPr lang="en-US" altLang="ru-RU">
                <a:solidFill>
                  <a:schemeClr val="accent5"/>
                </a:solidFill>
              </a:rPr>
              <a:t>ko'k rangda</a:t>
            </a:r>
            <a:r>
              <a:rPr lang="en-US" altLang="ru-RU"/>
              <a:t>;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ru-RU"/>
              <a:t>Tashrif buyurilgan havolaning tagiga chizilgan va </a:t>
            </a:r>
            <a:r>
              <a:rPr lang="en-US" altLang="ru-RU">
                <a:solidFill>
                  <a:srgbClr val="7030A0"/>
                </a:solidFill>
              </a:rPr>
              <a:t>binafsha rang</a:t>
            </a:r>
            <a:r>
              <a:rPr lang="en-US" altLang="ru-RU"/>
              <a:t>;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ru-RU"/>
              <a:t> Faol havolaning tagiga chizilgan va </a:t>
            </a:r>
            <a:r>
              <a:rPr lang="en-US" altLang="ru-RU">
                <a:solidFill>
                  <a:srgbClr val="FF0000"/>
                </a:solidFill>
              </a:rPr>
              <a:t>qizil rangda</a:t>
            </a:r>
            <a:endParaRPr lang="en-US" altLang="ru-RU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9" name="Заголовок 8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647700" y="2170430"/>
            <a:ext cx="7026910" cy="1440815"/>
          </a:xfrm>
        </p:spPr>
        <p:txBody>
          <a:bodyPr>
            <a:normAutofit/>
          </a:bodyPr>
          <a:p>
            <a:pPr algn="l"/>
            <a:r>
              <a:rPr lang="ru-RU" altLang="en-US">
                <a:solidFill>
                  <a:srgbClr val="FF0000"/>
                </a:solidFill>
              </a:rPr>
              <a:t>&lt;a</a:t>
            </a:r>
            <a:r>
              <a:rPr lang="ru-RU" altLang="en-US"/>
              <a:t> </a:t>
            </a:r>
            <a:r>
              <a:rPr lang="ru-RU" altLang="en-US">
                <a:solidFill>
                  <a:schemeClr val="accent1"/>
                </a:solidFill>
              </a:rPr>
              <a:t>href=</a:t>
            </a:r>
            <a:r>
              <a:rPr lang="ru-RU" altLang="en-US">
                <a:solidFill>
                  <a:schemeClr val="tx1"/>
                </a:solidFill>
              </a:rPr>
              <a:t>"</a:t>
            </a:r>
            <a:r>
              <a:rPr lang="ru-RU" altLang="en-US"/>
              <a:t>http://google.com"</a:t>
            </a:r>
            <a:r>
              <a:rPr lang="ru-RU" altLang="en-US">
                <a:solidFill>
                  <a:srgbClr val="FF0000"/>
                </a:solidFill>
              </a:rPr>
              <a:t>&gt;</a:t>
            </a:r>
            <a:r>
              <a:rPr lang="ru-RU" altLang="en-US"/>
              <a:t>Googlega kirish</a:t>
            </a:r>
            <a:r>
              <a:rPr lang="ru-RU" altLang="en-US">
                <a:solidFill>
                  <a:srgbClr val="FF0000"/>
                </a:solidFill>
              </a:rPr>
              <a:t>&lt;/a&gt;</a:t>
            </a:r>
            <a:endParaRPr lang="ru-RU" altLang="en-US">
              <a:solidFill>
                <a:srgbClr val="FF0000"/>
              </a:solidFill>
            </a:endParaRPr>
          </a:p>
        </p:txBody>
      </p:sp>
      <p:pic>
        <p:nvPicPr>
          <p:cNvPr id="8" name="Замещающее содержимое 7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250950" y="3611245"/>
            <a:ext cx="5497195" cy="28498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7220" y="198120"/>
            <a:ext cx="10515600" cy="1325563"/>
          </a:xfrm>
        </p:spPr>
        <p:txBody>
          <a:bodyPr/>
          <a:p>
            <a:r>
              <a:rPr lang="en-US" altLang="ru-RU"/>
              <a:t>	Target atributi</a:t>
            </a:r>
            <a:endParaRPr lang="en-US" altLang="ru-RU"/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800100" y="2171700"/>
            <a:ext cx="6099175" cy="3230880"/>
          </a:xfrm>
        </p:spPr>
        <p:txBody>
          <a:bodyPr>
            <a:normAutofit fontScale="90000"/>
          </a:bodyPr>
          <a:p>
            <a:r>
              <a:rPr lang="en-US" altLang="ru-RU">
                <a:solidFill>
                  <a:srgbClr val="FF0000"/>
                </a:solidFill>
              </a:rPr>
              <a:t>Target </a:t>
            </a:r>
            <a:r>
              <a:rPr lang="en-US" altLang="ru-RU"/>
              <a:t>atributi bog'langan hujjatni qayerda ochishni belgilaydi.</a:t>
            </a:r>
            <a:endParaRPr lang="en-US" altLang="ru-RU"/>
          </a:p>
          <a:p>
            <a:r>
              <a:rPr lang="en-US" altLang="ru-RU"/>
              <a:t>Bog'langan hujjatni yangi brauzer oynasida ochish uchun</a:t>
            </a:r>
            <a:r>
              <a:rPr lang="en-US" altLang="ru-RU">
                <a:solidFill>
                  <a:srgbClr val="0070C0"/>
                </a:solidFill>
              </a:rPr>
              <a:t> target="_blank"</a:t>
            </a:r>
            <a:r>
              <a:rPr lang="en-US" altLang="ru-RU"/>
              <a:t> dan foydalamiz:</a:t>
            </a:r>
            <a:endParaRPr lang="en-US" altLang="ru-RU"/>
          </a:p>
        </p:txBody>
      </p:sp>
      <p:sp>
        <p:nvSpPr>
          <p:cNvPr id="3" name="Замещающее содержимое 2"/>
          <p:cNvSpPr/>
          <p:nvPr>
            <p:ph sz="half" idx="2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9" name="Заголовок 8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647700" y="2170430"/>
            <a:ext cx="6330315" cy="1440815"/>
          </a:xfrm>
        </p:spPr>
        <p:txBody>
          <a:bodyPr>
            <a:normAutofit fontScale="90000"/>
          </a:bodyPr>
          <a:p>
            <a:pPr algn="l"/>
            <a:r>
              <a:rPr lang="ru-RU" altLang="en-US"/>
              <a:t>&lt;a </a:t>
            </a:r>
            <a:r>
              <a:rPr lang="ru-RU" altLang="en-US">
                <a:solidFill>
                  <a:srgbClr val="0070C0"/>
                </a:solidFill>
              </a:rPr>
              <a:t>target="_blank" </a:t>
            </a:r>
            <a:r>
              <a:rPr lang="ru-RU" altLang="en-US"/>
              <a:t>href="http://google.com"&gt;Googlega kirish&lt;/a&gt;</a:t>
            </a:r>
            <a:endParaRPr lang="ru-RU" altLang="en-US"/>
          </a:p>
        </p:txBody>
      </p:sp>
      <p:pic>
        <p:nvPicPr>
          <p:cNvPr id="3" name="Замещающее содержимое 2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393190" y="3611245"/>
            <a:ext cx="5494020" cy="31508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7220" y="198120"/>
            <a:ext cx="10515600" cy="1325563"/>
          </a:xfrm>
        </p:spPr>
        <p:txBody>
          <a:bodyPr/>
          <a:p>
            <a:r>
              <a:rPr lang="en-US" altLang="ru-RU"/>
              <a:t>	</a:t>
            </a:r>
            <a:endParaRPr lang="en-US" altLang="ru-RU"/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1368425" y="1683385"/>
            <a:ext cx="8844915" cy="2665730"/>
          </a:xfrm>
        </p:spPr>
        <p:txBody>
          <a:bodyPr>
            <a:normAutofit/>
          </a:bodyPr>
          <a:p>
            <a:r>
              <a:t>Foydalanuvchining elektron pochta dasturini ochadigan havola yaratish uchun</a:t>
            </a:r>
            <a:r>
              <a:rPr>
                <a:sym typeface="+mn-ea"/>
              </a:rPr>
              <a:t>(ularga yangi elektron pochta xabarini yuborish uchun)</a:t>
            </a:r>
            <a:r>
              <a:t> href atributi ichida </a:t>
            </a:r>
            <a:r>
              <a:rPr>
                <a:solidFill>
                  <a:srgbClr val="FF0000"/>
                </a:solidFill>
              </a:rPr>
              <a:t>mailto:</a:t>
            </a:r>
            <a:r>
              <a:t> dan foydalan</a:t>
            </a:r>
            <a:r>
              <a:rPr lang="en-US"/>
              <a:t>amiz</a:t>
            </a:r>
            <a:r>
              <a:t>:</a:t>
            </a:r>
          </a:p>
        </p:txBody>
      </p:sp>
      <p:sp>
        <p:nvSpPr>
          <p:cNvPr id="3" name="Замещающее содержимое 2"/>
          <p:cNvSpPr/>
          <p:nvPr>
            <p:ph sz="half" idx="2"/>
          </p:nvPr>
        </p:nvSpPr>
        <p:spPr>
          <a:xfrm>
            <a:off x="1245235" y="4349115"/>
            <a:ext cx="9091295" cy="1475105"/>
          </a:xfrm>
        </p:spPr>
        <p:txBody>
          <a:bodyPr>
            <a:normAutofit/>
          </a:bodyPr>
          <a:p>
            <a:r>
              <a:rPr lang="ru-RU" altLang="en-US"/>
              <a:t> </a:t>
            </a:r>
            <a:r>
              <a:rPr lang="ru-RU" altLang="en-US" sz="2400"/>
              <a:t>&lt;a </a:t>
            </a:r>
            <a:r>
              <a:rPr lang="ru-RU" altLang="en-US" sz="2400">
                <a:solidFill>
                  <a:srgbClr val="FF0000"/>
                </a:solidFill>
              </a:rPr>
              <a:t>href="mailto:nurmuhammadikromov55@gmail.com"</a:t>
            </a:r>
            <a:r>
              <a:rPr lang="ru-RU" altLang="en-US" sz="2400"/>
              <a:t>&gt;Emailga yuborish&lt;/a&gt;</a:t>
            </a:r>
            <a:endParaRPr lang="ru-RU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7220" y="198120"/>
            <a:ext cx="10515600" cy="1325563"/>
          </a:xfrm>
        </p:spPr>
        <p:txBody>
          <a:bodyPr/>
          <a:p>
            <a:r>
              <a:rPr lang="en-US" altLang="ru-RU"/>
              <a:t>	</a:t>
            </a:r>
            <a:endParaRPr lang="en-US" altLang="ru-RU"/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1391285" y="1864995"/>
            <a:ext cx="6614795" cy="2665730"/>
          </a:xfrm>
        </p:spPr>
        <p:txBody>
          <a:bodyPr>
            <a:normAutofit/>
          </a:bodyPr>
          <a:p>
            <a:r>
              <a:t>Foydalanuvch</a:t>
            </a:r>
            <a:r>
              <a:rPr lang="en-US"/>
              <a:t>i murojaat qilishi uchun telefon raqam </a:t>
            </a:r>
            <a:r>
              <a:t> </a:t>
            </a:r>
            <a:r>
              <a:rPr lang="en-US"/>
              <a:t>qoldirish</a:t>
            </a:r>
            <a:r>
              <a:t> uchun href atributi ichida </a:t>
            </a:r>
            <a:r>
              <a:rPr lang="en-US">
                <a:solidFill>
                  <a:srgbClr val="FF0000"/>
                </a:solidFill>
              </a:rPr>
              <a:t>tel</a:t>
            </a:r>
            <a:r>
              <a:rPr>
                <a:solidFill>
                  <a:srgbClr val="FF0000"/>
                </a:solidFill>
              </a:rPr>
              <a:t>:</a:t>
            </a:r>
            <a:r>
              <a:t> dan foydalan</a:t>
            </a:r>
            <a:r>
              <a:rPr lang="en-US"/>
              <a:t>amiz</a:t>
            </a:r>
            <a:r>
              <a:t>:</a:t>
            </a:r>
          </a:p>
        </p:txBody>
      </p:sp>
      <p:sp>
        <p:nvSpPr>
          <p:cNvPr id="3" name="Замещающее содержимое 2"/>
          <p:cNvSpPr/>
          <p:nvPr>
            <p:ph sz="half" idx="2"/>
          </p:nvPr>
        </p:nvSpPr>
        <p:spPr>
          <a:xfrm>
            <a:off x="1390650" y="4349115"/>
            <a:ext cx="6616065" cy="1475105"/>
          </a:xfrm>
        </p:spPr>
        <p:txBody>
          <a:bodyPr>
            <a:normAutofit/>
          </a:bodyPr>
          <a:p>
            <a:r>
              <a:rPr lang="ru-RU" altLang="en-US"/>
              <a:t> </a:t>
            </a:r>
            <a:r>
              <a:rPr lang="ru-RU" altLang="en-US" sz="2400"/>
              <a:t>&lt;a</a:t>
            </a:r>
            <a:r>
              <a:rPr lang="ru-RU" altLang="en-US" sz="2400">
                <a:solidFill>
                  <a:srgbClr val="FF0000"/>
                </a:solidFill>
              </a:rPr>
              <a:t> href</a:t>
            </a:r>
            <a:r>
              <a:rPr lang="ru-RU" altLang="en-US" sz="2400">
                <a:solidFill>
                  <a:srgbClr val="0070C0"/>
                </a:solidFill>
              </a:rPr>
              <a:t>="tel:+998991234567"</a:t>
            </a:r>
            <a:r>
              <a:rPr lang="ru-RU" altLang="en-US" sz="2400"/>
              <a:t>&gt;+(99)123-45-67&lt;/a&gt;</a:t>
            </a:r>
            <a:endParaRPr lang="ru-RU" altLang="en-US" sz="2400"/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635" y="1425575"/>
            <a:ext cx="3936365" cy="54324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7220" y="198120"/>
            <a:ext cx="10515600" cy="1325563"/>
          </a:xfrm>
        </p:spPr>
        <p:txBody>
          <a:bodyPr/>
          <a:p>
            <a:r>
              <a:rPr lang="en-US" altLang="ru-RU"/>
              <a:t>	Title atributi</a:t>
            </a:r>
            <a:endParaRPr lang="en-US" altLang="ru-RU"/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1368425" y="1683385"/>
            <a:ext cx="8844915" cy="2665730"/>
          </a:xfrm>
        </p:spPr>
        <p:txBody>
          <a:bodyPr>
            <a:normAutofit lnSpcReduction="10000"/>
          </a:bodyPr>
          <a:p>
            <a:r>
              <a:rPr lang="en-US"/>
              <a:t>Title atributi link haqida qo’shimcha ma’lumot berish uchun ishlatiladi: </a:t>
            </a:r>
            <a:endParaRPr lang="en-US"/>
          </a:p>
          <a:p>
            <a:r>
              <a:rPr lang="en-US"/>
              <a:t>&lt;a href="mailto:nurmuhammadikromov55@gmail.com" </a:t>
            </a:r>
            <a:r>
              <a:rPr lang="en-US">
                <a:solidFill>
                  <a:srgbClr val="FF0000"/>
                </a:solidFill>
              </a:rPr>
              <a:t>title="Email xabar uchun"</a:t>
            </a:r>
            <a:r>
              <a:rPr lang="en-US"/>
              <a:t>&gt;Emailga yuborish&lt;/a&gt;</a:t>
            </a:r>
            <a:endParaRPr lang="en-US"/>
          </a:p>
        </p:txBody>
      </p:sp>
      <p:pic>
        <p:nvPicPr>
          <p:cNvPr id="6" name="Замещающее содержимое 5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151370" y="4349115"/>
            <a:ext cx="3981450" cy="22669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7220" y="198120"/>
            <a:ext cx="10515600" cy="1325563"/>
          </a:xfrm>
        </p:spPr>
        <p:txBody>
          <a:bodyPr/>
          <a:p>
            <a:r>
              <a:rPr lang="en-US" altLang="ru-RU"/>
              <a:t>	Sarlavha teglari</a:t>
            </a:r>
            <a:endParaRPr lang="en-US" altLang="ru-RU"/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972185" y="2505075"/>
            <a:ext cx="5181600" cy="2192020"/>
          </a:xfrm>
        </p:spPr>
        <p:txBody>
          <a:bodyPr>
            <a:normAutofit fontScale="90000"/>
          </a:bodyPr>
          <a:p>
            <a:r>
              <a:rPr lang="ru-RU" altLang="en-US" sz="3600">
                <a:solidFill>
                  <a:srgbClr val="FF0000"/>
                </a:solidFill>
              </a:rPr>
              <a:t>&lt;</a:t>
            </a:r>
            <a:r>
              <a:rPr lang="en-US" altLang="ru-RU" sz="3600">
                <a:solidFill>
                  <a:srgbClr val="FF0000"/>
                </a:solidFill>
              </a:rPr>
              <a:t>h1</a:t>
            </a:r>
            <a:r>
              <a:rPr lang="ru-RU" altLang="en-US" sz="3600">
                <a:solidFill>
                  <a:srgbClr val="FF0000"/>
                </a:solidFill>
              </a:rPr>
              <a:t>&gt;</a:t>
            </a:r>
            <a:r>
              <a:rPr lang="en-US" altLang="ru-RU" sz="3600">
                <a:solidFill>
                  <a:srgbClr val="FF0000"/>
                </a:solidFill>
              </a:rPr>
              <a:t>...&lt;/h1&gt;</a:t>
            </a:r>
            <a:r>
              <a:rPr lang="ru-RU" altLang="en-US" sz="3600"/>
              <a:t> - </a:t>
            </a:r>
            <a:r>
              <a:rPr lang="en-US" altLang="ru-RU" sz="3600"/>
              <a:t>bu HTML sarlavhalar uchun ishlatiladi</a:t>
            </a:r>
            <a:r>
              <a:rPr lang="en-US" altLang="ru-RU"/>
              <a:t>.</a:t>
            </a:r>
            <a:endParaRPr lang="en-US" altLang="ru-RU"/>
          </a:p>
        </p:txBody>
      </p:sp>
      <p:pic>
        <p:nvPicPr>
          <p:cNvPr id="101" name="Замещающее содержимое 100"/>
          <p:cNvPicPr/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527675" y="1825625"/>
            <a:ext cx="6579235" cy="43516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5" name="Замещающее содержимое 4"/>
          <p:cNvSpPr/>
          <p:nvPr>
            <p:ph idx="1"/>
          </p:nvPr>
        </p:nvSpPr>
        <p:spPr>
          <a:xfrm>
            <a:off x="1287145" y="1825625"/>
            <a:ext cx="6965315" cy="4351655"/>
          </a:xfrm>
        </p:spPr>
        <p:txBody>
          <a:bodyPr>
            <a:normAutofit lnSpcReduction="10000"/>
          </a:bodyPr>
          <a:p>
            <a:r>
              <a:rPr lang="en-US" altLang="ru-RU"/>
              <a:t>Sarlavha teglari 6 ta: 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ru-RU"/>
              <a:t>&lt;h1&gt; ... &lt;/h1&gt;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ru-RU"/>
              <a:t>&lt;h2&gt; ... &lt;/h2&gt;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ru-RU"/>
              <a:t>&lt;h3&gt; ... &lt;/h3&gt;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ru-RU"/>
              <a:t>&lt;h4&gt; ... &lt;/h4&gt;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ru-RU"/>
              <a:t>&lt;h5&gt; ... &lt;/h5&gt;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ru-RU"/>
              <a:t>&lt;h6&gt; ... &lt;/h6&gt;</a:t>
            </a:r>
            <a:endParaRPr lang="en-US" altLang="ru-RU"/>
          </a:p>
          <a:p>
            <a:pPr>
              <a:buFont typeface="Wingdings" panose="05000000000000000000" charset="0"/>
            </a:pPr>
            <a:r>
              <a:rPr lang="en-US" altLang="ru-RU"/>
              <a:t>Va ularning o’lchamlari borgan sari kichiklashib boradi</a:t>
            </a:r>
            <a:endParaRPr lang="en-US" altLang="ru-RU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Замещающее содержимое 2"/>
          <p:cNvSpPr/>
          <p:nvPr>
            <p:ph sz="half" idx="2"/>
          </p:nvPr>
        </p:nvSpPr>
        <p:spPr/>
        <p:txBody>
          <a:bodyPr/>
          <a:p>
            <a:endParaRPr lang="ru-RU" altLang="en-US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80745" y="1546860"/>
            <a:ext cx="9846945" cy="53111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" name="Замещающее содержимое 4"/>
          <p:cNvSpPr/>
          <p:nvPr>
            <p:ph idx="1"/>
          </p:nvPr>
        </p:nvSpPr>
        <p:spPr>
          <a:xfrm>
            <a:off x="607060" y="2743835"/>
            <a:ext cx="6406515" cy="1369695"/>
          </a:xfrm>
        </p:spPr>
        <p:txBody>
          <a:bodyPr/>
          <a:p>
            <a:r>
              <a:rPr lang="en-US" altLang="ru-RU" sz="3200"/>
              <a:t>    1 ta web-saytda bittadan ortiq &lt;h1&gt; tegini ishlatish mumkin emas!</a:t>
            </a:r>
            <a:endParaRPr lang="en-US" altLang="ru-RU" sz="3200"/>
          </a:p>
          <a:p>
            <a:endParaRPr lang="en-US" altLang="ru-RU" sz="32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/>
              <a:t>	&lt;hr&gt; tegi</a:t>
            </a:r>
            <a:endParaRPr lang="en-US" altLang="ru-RU"/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567055" y="2560320"/>
            <a:ext cx="4756150" cy="2606675"/>
          </a:xfrm>
        </p:spPr>
        <p:txBody>
          <a:bodyPr>
            <a:normAutofit/>
          </a:bodyPr>
          <a:p>
            <a:r>
              <a:rPr>
                <a:solidFill>
                  <a:srgbClr val="FF0000"/>
                </a:solidFill>
              </a:rPr>
              <a:t>&lt;hr&gt;</a:t>
            </a:r>
            <a:r>
              <a:t> </a:t>
            </a:r>
            <a:r>
              <a:rPr lang="en-US"/>
              <a:t>- </a:t>
            </a:r>
            <a:r>
              <a:t> toq teg hisoblanib, gorizantal chiziq yaratish uchun ishlatiladi.</a:t>
            </a:r>
          </a:p>
        </p:txBody>
      </p:sp>
      <p:pic>
        <p:nvPicPr>
          <p:cNvPr id="104" name="Замещающее содержимое 103"/>
          <p:cNvPicPr/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424805" y="2190115"/>
            <a:ext cx="6398260" cy="35909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647700" y="436245"/>
            <a:ext cx="6539865" cy="4765675"/>
          </a:xfrm>
        </p:spPr>
        <p:txBody>
          <a:bodyPr>
            <a:normAutofit fontScale="80000"/>
          </a:bodyPr>
          <a:p>
            <a:r>
              <a:rPr lang="ru-RU" altLang="en-US"/>
              <a:t>&lt;body&gt;</a:t>
            </a:r>
            <a:endParaRPr lang="ru-RU" altLang="en-US"/>
          </a:p>
          <a:p>
            <a:r>
              <a:rPr lang="ru-RU" altLang="en-US"/>
              <a:t>        &lt;h1&gt;Mening birinchi web-sahifam&lt;/h1&gt;</a:t>
            </a:r>
            <a:endParaRPr lang="ru-RU" altLang="en-US"/>
          </a:p>
          <a:p>
            <a:r>
              <a:rPr lang="ru-RU" altLang="en-US"/>
              <a:t>        &lt;hr&gt;</a:t>
            </a:r>
            <a:endParaRPr lang="ru-RU" altLang="en-US"/>
          </a:p>
          <a:p>
            <a:r>
              <a:rPr lang="ru-RU" altLang="en-US"/>
              <a:t>        &lt;p&gt;Men Aliyev Vali PDP Schoolda ta'lim olyapman. Kelajakda yetuk IT mutaxassisi bo'lmoqchiman.&lt;/p&gt;</a:t>
            </a:r>
            <a:endParaRPr lang="ru-RU" altLang="en-US"/>
          </a:p>
          <a:p>
            <a:r>
              <a:rPr lang="ru-RU" altLang="en-US"/>
              <a:t>        &lt;hr&gt;</a:t>
            </a:r>
            <a:endParaRPr lang="ru-RU" altLang="en-US"/>
          </a:p>
          <a:p>
            <a:r>
              <a:rPr lang="ru-RU" altLang="en-US"/>
              <a:t>&lt;/body&gt;</a:t>
            </a:r>
            <a:endParaRPr lang="ru-RU" altLang="en-US"/>
          </a:p>
        </p:txBody>
      </p:sp>
      <p:pic>
        <p:nvPicPr>
          <p:cNvPr id="8" name="Замещающее содержимое 7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434965" y="3420745"/>
            <a:ext cx="6757035" cy="34372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pic>
        <p:nvPicPr>
          <p:cNvPr id="2" name="Замещающее содержимое 1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7700" y="1866900"/>
            <a:ext cx="6300470" cy="355409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5" name="Замещающее содержимое 4"/>
          <p:cNvSpPr/>
          <p:nvPr>
            <p:ph idx="1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1992</Words>
  <Application>WPS Presentation</Application>
  <PresentationFormat>宽屏</PresentationFormat>
  <Paragraphs>76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8" baseType="lpstr">
      <vt:lpstr>Arial</vt:lpstr>
      <vt:lpstr>SimSun</vt:lpstr>
      <vt:lpstr>Wingdings</vt:lpstr>
      <vt:lpstr>Calibri Light</vt:lpstr>
      <vt:lpstr>Wingdings</vt:lpstr>
      <vt:lpstr>Microsoft YaHei</vt:lpstr>
      <vt:lpstr>Arial Unicode MS</vt:lpstr>
      <vt:lpstr>Calibri</vt:lpstr>
      <vt:lpstr>Office Theme</vt:lpstr>
      <vt:lpstr>&lt;a&gt;, &lt;h&gt;, &lt;hr&gt;</vt:lpstr>
      <vt:lpstr>Reja:</vt:lpstr>
      <vt:lpstr>&lt;a&gt; tegi</vt:lpstr>
      <vt:lpstr> </vt:lpstr>
      <vt:lpstr>PowerPoint 演示文稿</vt:lpstr>
      <vt:lpstr>PowerPoint 演示文稿</vt:lpstr>
      <vt:lpstr>	Target atributi</vt:lpstr>
      <vt:lpstr>PowerPoint 演示文稿</vt:lpstr>
      <vt:lpstr>	</vt:lpstr>
      <vt:lpstr>	</vt:lpstr>
      <vt:lpstr>	Title atributi</vt:lpstr>
      <vt:lpstr>	Sarlavha teglari</vt:lpstr>
      <vt:lpstr>PowerPoint 演示文稿</vt:lpstr>
      <vt:lpstr>PowerPoint 演示文稿</vt:lpstr>
      <vt:lpstr>PowerPoint 演示文稿</vt:lpstr>
      <vt:lpstr>	&lt;hr&gt; tegi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Nurmuhammad Ikromov</cp:lastModifiedBy>
  <cp:revision>6</cp:revision>
  <dcterms:created xsi:type="dcterms:W3CDTF">2023-08-17T08:58:00Z</dcterms:created>
  <dcterms:modified xsi:type="dcterms:W3CDTF">2023-08-29T08:23:48Z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1049-11.2.0.11537</vt:lpwstr>
  </property>
  <property fmtid="{D5CDD505-2E9C-101B-9397-08002B2CF9AE}" pid="3" name="ICV">
    <vt:lpwstr>B11766A45C62487587799F82C76062E7</vt:lpwstr>
  </property>
</Properties>
</file>