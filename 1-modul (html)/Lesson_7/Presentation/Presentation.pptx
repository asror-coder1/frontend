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74" r:id="rId7"/>
    <p:sldId id="261" r:id="rId8"/>
    <p:sldId id="273" r:id="rId9"/>
    <p:sldId id="275" r:id="rId10"/>
    <p:sldId id="277" r:id="rId11"/>
    <p:sldId id="276" r:id="rId12"/>
    <p:sldId id="260" r:id="rId13"/>
    <p:sldId id="269" r:id="rId14"/>
    <p:sldId id="263" r:id="rId15"/>
    <p:sldId id="265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02462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b="1"/>
              <a:t>&lt;sub&gt;, &lt;super&gt;, &lt;mark&gt;, &lt;delete&gt;, &lt;button&gt; </a:t>
            </a:r>
            <a:endParaRPr lang="en-US" b="1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7375" y="1539240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587375" y="2865120"/>
            <a:ext cx="10515600" cy="3676015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&lt;sub&gt;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&lt;sup&gt;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&lt;mark&gt;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&lt;del&gt; tegi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/>
              <a:t>&lt;button&gt; tegi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/>
              <a:t>&lt;sub&gt; tegi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2159000"/>
            <a:ext cx="10515600" cy="1442085"/>
          </a:xfrm>
        </p:spPr>
        <p:txBody>
          <a:bodyPr>
            <a:normAutofit lnSpcReduction="20000"/>
          </a:bodyPr>
          <a:p>
            <a:r>
              <a:rPr lang="ru-RU" altLang="en-US"/>
              <a:t>&lt;sub&gt; tegi </a:t>
            </a:r>
            <a:r>
              <a:rPr lang="en-US" altLang="ru-RU"/>
              <a:t>quyi(subscript) </a:t>
            </a:r>
            <a:r>
              <a:rPr lang="ru-RU" altLang="en-US"/>
              <a:t>matnini belgilaydi. Subscript matni oddiy satrdan yarim belgi ostida ko'rinadi va ba'zan kichikroq shriftda ko'rsatiladi. Subscript </a:t>
            </a:r>
            <a:r>
              <a:rPr lang="en-US" altLang="ru-RU">
                <a:solidFill>
                  <a:srgbClr val="0070C0"/>
                </a:solidFill>
              </a:rPr>
              <a:t>H</a:t>
            </a:r>
            <a:r>
              <a:rPr lang="en-US" altLang="ru-RU" baseline="-25000">
                <a:solidFill>
                  <a:srgbClr val="0070C0"/>
                </a:solidFill>
              </a:rPr>
              <a:t>2</a:t>
            </a:r>
            <a:r>
              <a:rPr lang="en-US" altLang="ru-RU">
                <a:solidFill>
                  <a:srgbClr val="0070C0"/>
                </a:solidFill>
              </a:rPr>
              <a:t>O</a:t>
            </a:r>
            <a:r>
              <a:rPr lang="ru-RU" altLang="en-US"/>
              <a:t> kabi kimyoviy formulalar uchun ishlatilishi mumkin.</a:t>
            </a:r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261110" y="3958590"/>
            <a:ext cx="82353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400"/>
              <a:t>&lt;p&gt;Suvning formulasi H</a:t>
            </a:r>
            <a:r>
              <a:rPr lang="ru-RU" altLang="en-US" sz="2400">
                <a:solidFill>
                  <a:srgbClr val="FF0000"/>
                </a:solidFill>
              </a:rPr>
              <a:t>&lt;sub&gt;</a:t>
            </a:r>
            <a:r>
              <a:rPr lang="ru-RU" altLang="en-US" sz="2400">
                <a:solidFill>
                  <a:schemeClr val="tx1"/>
                </a:solidFill>
              </a:rPr>
              <a:t>2</a:t>
            </a:r>
            <a:r>
              <a:rPr lang="ru-RU" altLang="en-US" sz="2400">
                <a:solidFill>
                  <a:srgbClr val="FF0000"/>
                </a:solidFill>
              </a:rPr>
              <a:t>&lt;/sub&gt;</a:t>
            </a:r>
            <a:r>
              <a:rPr lang="ru-RU" altLang="en-US" sz="2400"/>
              <a:t>O bilan belgilanadi. &lt;/p&gt;</a:t>
            </a:r>
            <a:endParaRPr lang="ru-RU" altLang="en-US" sz="2400"/>
          </a:p>
          <a:p>
            <a:endParaRPr lang="ru-RU" altLang="en-US" sz="2400"/>
          </a:p>
          <a:p>
            <a:r>
              <a:rPr lang="ru-RU" altLang="en-US" sz="2400"/>
              <a:t>&lt;p&gt;Daraxtlar CO</a:t>
            </a:r>
            <a:r>
              <a:rPr lang="ru-RU" altLang="en-US" sz="2400">
                <a:solidFill>
                  <a:srgbClr val="FF0000"/>
                </a:solidFill>
              </a:rPr>
              <a:t>&lt;sub&gt;</a:t>
            </a:r>
            <a:r>
              <a:rPr lang="ru-RU" altLang="en-US" sz="2400"/>
              <a:t>2</a:t>
            </a:r>
            <a:r>
              <a:rPr lang="ru-RU" altLang="en-US" sz="2400">
                <a:solidFill>
                  <a:srgbClr val="FF0000"/>
                </a:solidFill>
              </a:rPr>
              <a:t>&lt;/sub&gt;</a:t>
            </a:r>
            <a:r>
              <a:rPr lang="ru-RU" altLang="en-US" sz="2400"/>
              <a:t> (korbanat angidrid)ni yutib O</a:t>
            </a:r>
            <a:r>
              <a:rPr lang="ru-RU" altLang="en-US" sz="2400">
                <a:solidFill>
                  <a:srgbClr val="FF0000"/>
                </a:solidFill>
              </a:rPr>
              <a:t>&lt;sub&gt;</a:t>
            </a:r>
            <a:r>
              <a:rPr lang="ru-RU" altLang="en-US" sz="2400"/>
              <a:t>2</a:t>
            </a:r>
            <a:r>
              <a:rPr lang="ru-RU" altLang="en-US" sz="2400">
                <a:solidFill>
                  <a:srgbClr val="FF0000"/>
                </a:solidFill>
              </a:rPr>
              <a:t>&lt;/sub&gt; </a:t>
            </a:r>
            <a:r>
              <a:rPr lang="ru-RU" altLang="en-US" sz="2400"/>
              <a:t>(kislorod)ni chiqaradi.&lt;/p&gt;</a:t>
            </a:r>
            <a:endParaRPr lang="ru-RU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solidFill>
                  <a:schemeClr val="bg1"/>
                </a:solidFill>
              </a:rPr>
              <a:t>Natija: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820" y="2018665"/>
            <a:ext cx="757047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&lt;mark&gt;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15465"/>
            <a:ext cx="11277600" cy="1282700"/>
          </a:xfrm>
        </p:spPr>
        <p:txBody>
          <a:bodyPr>
            <a:normAutofit fontScale="90000"/>
          </a:bodyPr>
          <a:p>
            <a:r>
              <a:rPr>
                <a:solidFill>
                  <a:srgbClr val="FF0000"/>
                </a:solidFill>
              </a:rPr>
              <a:t>&lt;mark&gt; </a:t>
            </a:r>
            <a:r>
              <a:t>tegi</a:t>
            </a:r>
            <a:r>
              <a:rPr lang="en-US"/>
              <a:t> juft teg hisoblanib,</a:t>
            </a:r>
            <a:r>
              <a:t> belgilanishi yoki ta'kidlanishi kerak bo'lgan matnni belgilaydi.</a:t>
            </a: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16610" y="3512185"/>
            <a:ext cx="3925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+mj-ea"/>
                <a:cs typeface="+mj-ea"/>
              </a:rPr>
              <a:t>Bu teg odatiy holatda matnni biror qismini orqa qismini </a:t>
            </a:r>
            <a:r>
              <a:rPr lang="en-US" sz="2400">
                <a:highlight>
                  <a:srgbClr val="FFFF00"/>
                </a:highlight>
                <a:latin typeface="+mj-ea"/>
                <a:cs typeface="+mj-ea"/>
              </a:rPr>
              <a:t>sariqqa </a:t>
            </a:r>
            <a:r>
              <a:rPr lang="en-US" sz="2400">
                <a:latin typeface="+mj-ea"/>
                <a:cs typeface="+mj-ea"/>
              </a:rPr>
              <a:t>bo’yab, textni o’zini qora rangda yozib beradi.</a:t>
            </a:r>
            <a:endParaRPr lang="en-US" sz="2400">
              <a:latin typeface="+mj-ea"/>
              <a:cs typeface="+mj-ea"/>
            </a:endParaRPr>
          </a:p>
        </p:txBody>
      </p:sp>
      <p:pic>
        <p:nvPicPr>
          <p:cNvPr id="102" name="Замещающее содержимое 101"/>
          <p:cNvPicPr/>
          <p:nvPr>
            <p:ph sz="half" idx="2"/>
          </p:nvPr>
        </p:nvPicPr>
        <p:blipFill>
          <a:blip r:embed="rId2"/>
          <a:srcRect l="-813" t="-6260" r="813" b="6260"/>
          <a:stretch>
            <a:fillRect/>
          </a:stretch>
        </p:blipFill>
        <p:spPr>
          <a:xfrm>
            <a:off x="4852035" y="2506345"/>
            <a:ext cx="733996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5868035" cy="1920875"/>
          </a:xfrm>
        </p:spPr>
        <p:txBody>
          <a:bodyPr/>
          <a:p>
            <a:r>
              <a:rPr lang="ru-RU" altLang="en-US" sz="2400">
                <a:solidFill>
                  <a:schemeClr val="accent1"/>
                </a:solidFill>
              </a:rPr>
              <a:t>&lt;p&gt;</a:t>
            </a:r>
            <a:r>
              <a:rPr lang="ru-RU" altLang="en-US" sz="2400"/>
              <a:t>Maktabdan qaytishingda </a:t>
            </a:r>
            <a:r>
              <a:rPr lang="ru-RU" altLang="en-US" sz="2400">
                <a:solidFill>
                  <a:srgbClr val="FF0000"/>
                </a:solidFill>
              </a:rPr>
              <a:t>&lt;mark&gt;</a:t>
            </a:r>
            <a:r>
              <a:rPr lang="ru-RU" altLang="en-US" sz="2400">
                <a:solidFill>
                  <a:schemeClr val="tx1"/>
                </a:solidFill>
              </a:rPr>
              <a:t>sut</a:t>
            </a:r>
            <a:r>
              <a:rPr lang="ru-RU" altLang="en-US" sz="2400">
                <a:solidFill>
                  <a:srgbClr val="FF0000"/>
                </a:solidFill>
              </a:rPr>
              <a:t>&lt;/mark&gt;</a:t>
            </a:r>
            <a:r>
              <a:rPr lang="ru-RU" altLang="en-US" sz="2400"/>
              <a:t> olib kelishni unutma!</a:t>
            </a:r>
            <a:r>
              <a:rPr lang="ru-RU" altLang="en-US" sz="2400">
                <a:solidFill>
                  <a:schemeClr val="accent1"/>
                </a:solidFill>
              </a:rPr>
              <a:t>&lt;/p&gt;</a:t>
            </a:r>
            <a:endParaRPr lang="ru-RU" altLang="en-US" sz="2400">
              <a:solidFill>
                <a:schemeClr val="accent1"/>
              </a:solidFill>
            </a:endParaRPr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1075" y="3949700"/>
            <a:ext cx="5534660" cy="2502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&lt;del&gt;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078990"/>
            <a:ext cx="9975215" cy="921385"/>
          </a:xfrm>
        </p:spPr>
        <p:txBody>
          <a:bodyPr>
            <a:normAutofit lnSpcReduction="20000"/>
          </a:bodyPr>
          <a:p>
            <a:r>
              <a:rPr>
                <a:solidFill>
                  <a:srgbClr val="FF0000"/>
                </a:solidFill>
              </a:rPr>
              <a:t>&lt;del&gt;</a:t>
            </a:r>
            <a:r>
              <a:t> tegi hujjatdan o'chirilgan matnni belgilaydi.</a:t>
            </a: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392555" y="3362960"/>
            <a:ext cx="8235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>
                <a:solidFill>
                  <a:srgbClr val="0070C0"/>
                </a:solidFill>
              </a:rPr>
              <a:t>&lt;p&gt;</a:t>
            </a:r>
            <a:r>
              <a:rPr sz="2400"/>
              <a:t>Telefon narxi: </a:t>
            </a:r>
            <a:r>
              <a:rPr sz="2400">
                <a:solidFill>
                  <a:srgbClr val="FF0000"/>
                </a:solidFill>
              </a:rPr>
              <a:t>&lt;del&gt;</a:t>
            </a:r>
            <a:r>
              <a:rPr sz="2400">
                <a:solidFill>
                  <a:schemeClr val="tx1"/>
                </a:solidFill>
              </a:rPr>
              <a:t>249$&lt;</a:t>
            </a:r>
            <a:r>
              <a:rPr sz="2400">
                <a:solidFill>
                  <a:srgbClr val="FF0000"/>
                </a:solidFill>
              </a:rPr>
              <a:t>/del&gt;</a:t>
            </a:r>
            <a:r>
              <a:rPr sz="2400">
                <a:solidFill>
                  <a:srgbClr val="0070C0"/>
                </a:solidFill>
              </a:rPr>
              <a:t>&lt;/p&gt;</a:t>
            </a:r>
            <a:endParaRPr sz="2400">
              <a:solidFill>
                <a:srgbClr val="0070C0"/>
              </a:solidFill>
            </a:endParaRPr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8300" y="3746500"/>
            <a:ext cx="4999990" cy="2799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&lt;ins&gt;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825625"/>
            <a:ext cx="10516235" cy="1504950"/>
          </a:xfrm>
        </p:spPr>
        <p:txBody>
          <a:bodyPr>
            <a:normAutofit lnSpcReduction="20000"/>
          </a:bodyPr>
          <a:p>
            <a:r>
              <a:rPr lang="en-US">
                <a:solidFill>
                  <a:srgbClr val="FF0000"/>
                </a:solidFill>
              </a:rPr>
              <a:t>&lt;ins&gt;</a:t>
            </a:r>
            <a:r>
              <a:rPr lang="en-US"/>
              <a:t> tegi dokumentga kiritilgan matnni belgilash uchun ishlatiladi. Odatiy holda u matnning belgilangan qismini tagiga chizib beradi.</a:t>
            </a:r>
            <a:endParaRPr 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240155" y="3569970"/>
            <a:ext cx="8235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>
                <a:solidFill>
                  <a:srgbClr val="0070C0"/>
                </a:solidFill>
              </a:rPr>
              <a:t>&lt;p&gt;</a:t>
            </a:r>
            <a:r>
              <a:rPr sz="2400"/>
              <a:t>Telefon narxi: </a:t>
            </a:r>
            <a:r>
              <a:rPr sz="2400">
                <a:solidFill>
                  <a:srgbClr val="FF0000"/>
                </a:solidFill>
              </a:rPr>
              <a:t>&lt;ins&gt;</a:t>
            </a:r>
            <a:r>
              <a:rPr sz="2400">
                <a:solidFill>
                  <a:schemeClr val="tx1"/>
                </a:solidFill>
              </a:rPr>
              <a:t>199$</a:t>
            </a:r>
            <a:r>
              <a:rPr sz="2400">
                <a:solidFill>
                  <a:srgbClr val="FF0000"/>
                </a:solidFill>
              </a:rPr>
              <a:t>&lt;/ins&gt;&lt;</a:t>
            </a:r>
            <a:r>
              <a:rPr sz="2400">
                <a:solidFill>
                  <a:srgbClr val="0070C0"/>
                </a:solidFill>
              </a:rPr>
              <a:t>/p&gt;</a:t>
            </a:r>
            <a:endParaRPr sz="2400">
              <a:solidFill>
                <a:srgbClr val="0070C0"/>
              </a:solidFill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0505" y="4030345"/>
            <a:ext cx="4406265" cy="2493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6" name="Замещающее содержимое 5"/>
          <p:cNvSpPr/>
          <p:nvPr>
            <p:ph sz="half" idx="2"/>
          </p:nvPr>
        </p:nvSpPr>
        <p:spPr>
          <a:xfrm>
            <a:off x="3324860" y="1966595"/>
            <a:ext cx="3717925" cy="4351655"/>
          </a:xfrm>
        </p:spPr>
        <p:txBody>
          <a:bodyPr/>
          <a:p>
            <a:r>
              <a:rPr altLang="ru-RU"/>
              <a:t>Masalan, Korzinkaning saytida chegirma narxni </a:t>
            </a:r>
            <a:r>
              <a:rPr altLang="ru-RU">
                <a:solidFill>
                  <a:srgbClr val="FF0000"/>
                </a:solidFill>
              </a:rPr>
              <a:t>&lt;del&gt;</a:t>
            </a:r>
            <a:r>
              <a:rPr altLang="ru-RU"/>
              <a:t> tegi orqali ifodalashimiz mumkin.</a:t>
            </a:r>
            <a:endParaRPr altLang="ru-RU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7410" y="1724660"/>
            <a:ext cx="2278380" cy="435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 b="1"/>
              <a:t>&lt;button&gt; tegi</a:t>
            </a:r>
            <a:endParaRPr lang="en-US" altLang="ru-RU" b="1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/>
        <p:txBody>
          <a:bodyPr>
            <a:normAutofit lnSpcReduction="20000"/>
          </a:bodyPr>
          <a:p>
            <a:r>
              <a:rPr>
                <a:solidFill>
                  <a:srgbClr val="FF0000"/>
                </a:solidFill>
              </a:rPr>
              <a:t>&lt;button&gt;</a:t>
            </a:r>
            <a:r>
              <a:t> tegi bosiladigan tugmani belgilaydi</a:t>
            </a:r>
          </a:p>
        </p:txBody>
      </p:sp>
      <p:pic>
        <p:nvPicPr>
          <p:cNvPr id="101" name="Изображение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67180" y="3429000"/>
            <a:ext cx="5181600" cy="200850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433195"/>
            <a:ext cx="4262120" cy="5425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rgbClr val="FF0000"/>
                </a:solidFill>
              </a:rPr>
              <a:t>&lt;button&gt;</a:t>
            </a:r>
            <a:r>
              <a:rPr lang="en-US" altLang="ru-RU"/>
              <a:t> tegi 3 xil </a:t>
            </a:r>
            <a:r>
              <a:rPr lang="en-US" altLang="ru-RU">
                <a:solidFill>
                  <a:schemeClr val="accent1"/>
                </a:solidFill>
              </a:rPr>
              <a:t>type</a:t>
            </a:r>
            <a:r>
              <a:rPr lang="en-US" altLang="ru-RU"/>
              <a:t>da bo’lishi mumkin.</a:t>
            </a:r>
            <a:endParaRPr lang="en-US" altLang="ru-RU"/>
          </a:p>
          <a:p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&lt;button </a:t>
            </a:r>
            <a:r>
              <a:rPr lang="en-US" altLang="ru-RU">
                <a:solidFill>
                  <a:srgbClr val="FF0000"/>
                </a:solidFill>
              </a:rPr>
              <a:t>type="button"</a:t>
            </a:r>
            <a:r>
              <a:rPr lang="en-US" altLang="ru-RU"/>
              <a:t>&gt;Button&lt;/button&gt;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 &lt;button </a:t>
            </a:r>
            <a:r>
              <a:rPr lang="en-US" altLang="ru-RU">
                <a:solidFill>
                  <a:srgbClr val="FF0000"/>
                </a:solidFill>
              </a:rPr>
              <a:t>type="submit"</a:t>
            </a:r>
            <a:r>
              <a:rPr lang="en-US" altLang="ru-RU"/>
              <a:t>&gt;Submit&lt;/button&gt;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altLang="ru-RU"/>
              <a:t>&lt;button </a:t>
            </a:r>
            <a:r>
              <a:rPr lang="en-US" altLang="ru-RU">
                <a:solidFill>
                  <a:srgbClr val="FF0000"/>
                </a:solidFill>
              </a:rPr>
              <a:t>type="reset"</a:t>
            </a:r>
            <a:r>
              <a:rPr lang="en-US" altLang="ru-RU"/>
              <a:t>&gt;Reset&lt;/button&gt;</a:t>
            </a:r>
            <a:endParaRPr lang="en-US" altLang="ru-RU"/>
          </a:p>
          <a:p>
            <a:pPr marL="457200" indent="-457200">
              <a:buFont typeface="Wingdings" panose="05000000000000000000" charset="0"/>
              <a:buChar char="v"/>
            </a:pPr>
            <a:endParaRPr lang="en-US" altLang="ru-RU"/>
          </a:p>
          <a:p>
            <a:pPr>
              <a:buFont typeface="Wingdings" panose="05000000000000000000" charset="0"/>
            </a:pPr>
            <a:r>
              <a:rPr lang="en-US" altLang="ru-RU"/>
              <a:t>Odatiy holda “button” tipida bo’ladi.</a:t>
            </a:r>
            <a:endParaRPr lang="en-US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584325"/>
            <a:ext cx="6330315" cy="315912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7152640" y="1584325"/>
            <a:ext cx="44500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ru-RU" sz="2400">
                <a:sym typeface="+mn-ea"/>
              </a:rPr>
              <a:t>“button” tipi oddiy hodisalarni bajarishda qo’llaniladi.</a:t>
            </a:r>
            <a:endParaRPr lang="en-US" altLang="ru-RU" sz="2400">
              <a:sym typeface="+mn-ea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ru-RU" sz="24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ru-RU" sz="2400"/>
              <a:t>“submit” tipi asosan formalar bilan ishlatiladi.</a:t>
            </a:r>
            <a:endParaRPr lang="en-US" altLang="ru-RU" sz="2400"/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ru-RU" sz="24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ru-RU" sz="2400"/>
              <a:t>“reset” tipidan qayta o’rnatilishi kerak bo’lgan holatlarda foydalaniladi.</a:t>
            </a:r>
            <a:endParaRPr lang="en-US" altLang="ru-RU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47700" y="3093720"/>
            <a:ext cx="6569710" cy="1380490"/>
          </a:xfrm>
        </p:spPr>
        <p:txBody>
          <a:bodyPr/>
          <a:p>
            <a:r>
              <a:rPr lang="en-US" altLang="ru-RU" b="1"/>
              <a:t>	</a:t>
            </a:r>
            <a:r>
              <a:rPr lang="en-US" altLang="ru-RU" sz="3200" b="1"/>
              <a:t>Internet do’kon yaratish</a:t>
            </a:r>
            <a:endParaRPr lang="en-US" altLang="ru-RU" sz="3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</Words>
  <Application>WPS Presentation</Application>
  <PresentationFormat>宽屏</PresentationFormat>
  <Paragraphs>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&lt;sub&gt;, &lt;super&gt;, &lt;mark&gt;, &lt;delete&gt;, &lt;button&gt; </vt:lpstr>
      <vt:lpstr>Reja:</vt:lpstr>
      <vt:lpstr>&lt;sub&gt; tegi</vt:lpstr>
      <vt:lpstr>Natija:</vt:lpstr>
      <vt:lpstr>&lt;mark&gt; tegi</vt:lpstr>
      <vt:lpstr>PowerPoint 演示文稿</vt:lpstr>
      <vt:lpstr>&lt;del&gt; tegi</vt:lpstr>
      <vt:lpstr>&lt;ins&gt; tegi</vt:lpstr>
      <vt:lpstr>PowerPoint 演示文稿</vt:lpstr>
      <vt:lpstr>&lt;button&gt; tegi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Swift 3</cp:lastModifiedBy>
  <cp:revision>5</cp:revision>
  <dcterms:created xsi:type="dcterms:W3CDTF">2023-08-17T08:58:00Z</dcterms:created>
  <dcterms:modified xsi:type="dcterms:W3CDTF">2023-09-12T17:14:29Z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371FC9B379EA477CB7C0CFD8021E90F2</vt:lpwstr>
  </property>
</Properties>
</file>