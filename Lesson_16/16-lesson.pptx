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8"/>
  </p:handoutMasterIdLst>
  <p:sldIdLst>
    <p:sldId id="256" r:id="rId3"/>
    <p:sldId id="257" r:id="rId4"/>
    <p:sldId id="341" r:id="rId5"/>
    <p:sldId id="352" r:id="rId7"/>
    <p:sldId id="376" r:id="rId8"/>
    <p:sldId id="377" r:id="rId9"/>
    <p:sldId id="285" r:id="rId10"/>
    <p:sldId id="367" r:id="rId11"/>
    <p:sldId id="398" r:id="rId12"/>
    <p:sldId id="378" r:id="rId13"/>
    <p:sldId id="379" r:id="rId14"/>
    <p:sldId id="351" r:id="rId15"/>
    <p:sldId id="399" r:id="rId16"/>
    <p:sldId id="373" r:id="rId17"/>
    <p:sldId id="400" r:id="rId18"/>
    <p:sldId id="402" r:id="rId19"/>
    <p:sldId id="342" r:id="rId20"/>
    <p:sldId id="343" r:id="rId21"/>
    <p:sldId id="405" r:id="rId22"/>
    <p:sldId id="404" r:id="rId23"/>
    <p:sldId id="353" r:id="rId24"/>
    <p:sldId id="417" r:id="rId25"/>
    <p:sldId id="263" r:id="rId26"/>
    <p:sldId id="265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0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/>
          <p:nvPr>
            <p:ph type="sldImg" idx="2"/>
          </p:nvPr>
        </p:nvSpPr>
        <p:spPr/>
      </p:sp>
      <p:sp>
        <p:nvSpPr>
          <p:cNvPr id="3" name="Замещающий текст 2"/>
          <p:cNvSpPr/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72920"/>
            <a:ext cx="8067040" cy="2186940"/>
          </a:xfrm>
        </p:spPr>
        <p:txBody>
          <a:bodyPr>
            <a:normAutofit/>
          </a:bodyPr>
          <a:lstStyle/>
          <a:p>
            <a:r>
              <a:rPr lang="en-US" b="1"/>
              <a:t>Function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8180" y="1180465"/>
            <a:ext cx="10515600" cy="1325563"/>
          </a:xfrm>
        </p:spPr>
        <p:txBody>
          <a:bodyPr/>
          <a:p>
            <a:r>
              <a:rPr lang="en-US" altLang="ru-RU"/>
              <a:t>Reja: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>
          <a:xfrm>
            <a:off x="678180" y="2506345"/>
            <a:ext cx="4795520" cy="4351655"/>
          </a:xfrm>
        </p:spPr>
        <p:txBody>
          <a:bodyPr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funksiya nima?</a:t>
            </a:r>
            <a:endParaRPr lang="en-US" altLang="ru-RU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argument, parametr</a:t>
            </a:r>
            <a:endParaRPr lang="en-US" altLang="ru-RU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default parametr</a:t>
            </a:r>
            <a:endParaRPr lang="en-US" altLang="ru-RU">
              <a:sym typeface="+mn-ea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>
                <a:sym typeface="+mn-ea"/>
              </a:rPr>
              <a:t>return</a:t>
            </a:r>
            <a:endParaRPr lang="en-US" altLang="ru-RU">
              <a:sym typeface="+mn-ea"/>
            </a:endParaRPr>
          </a:p>
          <a:p>
            <a:pPr>
              <a:buFont typeface="Wingdings" panose="05000000000000000000" charset="0"/>
            </a:pP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 nima?</a:t>
            </a:r>
            <a:endParaRPr lang="en-US" altLang="ru-RU" b="1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>
          <a:xfrm>
            <a:off x="827405" y="1825625"/>
            <a:ext cx="4660265" cy="4351655"/>
          </a:xfrm>
        </p:spPr>
        <p:txBody>
          <a:bodyPr>
            <a:normAutofit fontScale="90000"/>
          </a:bodyPr>
          <a:p>
            <a:pPr indent="457200"/>
            <a:r>
              <a:rPr lang="en-US" altLang="ru-RU"/>
              <a:t>Kundalik hayotimizda ko’rgan ko’pgina narsalar ma’lum vazifa bajarish uchun yaratilgan. Masalan, ruchka yozish uchun, telefon gaplashish uchun, sichqoncha qulay boshqarish uchun va hk. 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sz="half" idx="2"/>
          </p:nvPr>
        </p:nvSpPr>
        <p:spPr>
          <a:xfrm>
            <a:off x="4871720" y="1825625"/>
            <a:ext cx="6812280" cy="4740275"/>
          </a:xfrm>
        </p:spPr>
        <p:txBody>
          <a:bodyPr>
            <a:normAutofit lnSpcReduction="10000"/>
          </a:bodyPr>
          <a:p>
            <a:pPr marL="457200" lvl="1" indent="0">
              <a:buFont typeface="Wingdings" panose="05000000000000000000" charset="0"/>
              <a:buNone/>
            </a:pPr>
            <a:endParaRPr altLang="ru-RU"/>
          </a:p>
          <a:p>
            <a:pPr marL="914400" lvl="1" indent="-457200">
              <a:buFont typeface="Wingdings" panose="05000000000000000000" charset="0"/>
              <a:buChar char="ü"/>
            </a:pPr>
            <a:endParaRPr altLang="ru-RU"/>
          </a:p>
          <a:p>
            <a:pPr marL="457200" indent="-457200">
              <a:buFont typeface="Wingdings" panose="05000000000000000000" charset="0"/>
              <a:buChar char="ü"/>
            </a:pPr>
            <a:endParaRPr altLang="ru-RU"/>
          </a:p>
        </p:txBody>
      </p:sp>
      <p:pic>
        <p:nvPicPr>
          <p:cNvPr id="102" name="Изображение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5812155" y="2370455"/>
            <a:ext cx="5351145" cy="2887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802255"/>
            <a:ext cx="5181600" cy="2094865"/>
          </a:xfrm>
        </p:spPr>
        <p:txBody>
          <a:bodyPr>
            <a:normAutofit lnSpcReduction="20000"/>
          </a:bodyPr>
          <a:p>
            <a:pPr indent="457200">
              <a:lnSpc>
                <a:spcPct val="120000"/>
              </a:lnSpc>
            </a:pPr>
            <a:r>
              <a:rPr lang="en-US" altLang="ru-RU">
                <a:solidFill>
                  <a:schemeClr val="tx1"/>
                </a:solidFill>
              </a:rPr>
              <a:t>Ushbu vazifalarni bir so’z bilan “</a:t>
            </a:r>
            <a:r>
              <a:rPr lang="en-US" altLang="ru-RU">
                <a:solidFill>
                  <a:srgbClr val="FF0000"/>
                </a:solidFill>
              </a:rPr>
              <a:t>funksiya</a:t>
            </a:r>
            <a:r>
              <a:rPr lang="en-US" altLang="ru-RU">
                <a:solidFill>
                  <a:schemeClr val="tx1"/>
                </a:solidFill>
              </a:rPr>
              <a:t>” deyishimiz mumkin.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2" name="Замещающее содержимое 1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JavaScriptda funksiya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Dasturlash tillari orqali ham ma’lum vazifani bajaradigan funksiyalarni yaratishimiz mumkin. Masalan, ikkita sonni yig’indisini hisoblaydigan, berilgan sonlar orasidan kattasini topadigan va hk.</a:t>
            </a:r>
            <a:endParaRPr lang="en-US" altLang="ru-RU"/>
          </a:p>
        </p:txBody>
      </p:sp>
      <p:pic>
        <p:nvPicPr>
          <p:cNvPr id="103" name="Замещающее содержимое 102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7765" y="2265680"/>
            <a:ext cx="4915535" cy="3048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 yaratish</a:t>
            </a:r>
            <a:endParaRPr lang="en-US" altLang="ru-RU" b="1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/>
        <p:txBody>
          <a:bodyPr>
            <a:normAutofit/>
          </a:bodyPr>
          <a:p>
            <a:pPr indent="457200"/>
            <a:r>
              <a:rPr lang="en-US" altLang="ru-RU"/>
              <a:t>Funksiya yaratish uchun </a:t>
            </a:r>
            <a:r>
              <a:rPr lang="en-US" altLang="ru-RU">
                <a:solidFill>
                  <a:srgbClr val="FF0000"/>
                </a:solidFill>
              </a:rPr>
              <a:t>function </a:t>
            </a:r>
            <a:r>
              <a:rPr lang="en-US" altLang="ru-RU"/>
              <a:t>kalit so’zi, unga berilgan nom va () , {} lar kerak bo’ladi.</a:t>
            </a:r>
            <a:endParaRPr lang="en-US" altLang="ru-RU"/>
          </a:p>
        </p:txBody>
      </p:sp>
      <p:sp>
        <p:nvSpPr>
          <p:cNvPr id="5" name="Замещающее содержимое 4"/>
          <p:cNvSpPr/>
          <p:nvPr>
            <p:ph sz="half" idx="2"/>
          </p:nvPr>
        </p:nvSpPr>
        <p:spPr>
          <a:xfrm>
            <a:off x="5981700" y="1825625"/>
            <a:ext cx="5181600" cy="4427220"/>
          </a:xfrm>
        </p:spPr>
        <p:txBody>
          <a:bodyPr>
            <a:normAutofit lnSpcReduction="20000"/>
          </a:bodyPr>
          <a:p>
            <a:r>
              <a:rPr altLang="ru-RU"/>
              <a:t>Funksiya yaratish ketma-ketligi:</a:t>
            </a:r>
            <a:endParaRPr altLang="ru-RU"/>
          </a:p>
          <a:p>
            <a:pPr marL="514350" indent="-514350">
              <a:buAutoNum type="arabicPeriod"/>
            </a:pPr>
            <a:r>
              <a:rPr altLang="ru-RU"/>
              <a:t>“function” kalit so’zini yozamiz;</a:t>
            </a:r>
            <a:endParaRPr altLang="ru-RU"/>
          </a:p>
          <a:p>
            <a:pPr marL="514350" indent="-514350">
              <a:buAutoNum type="arabicPeriod"/>
            </a:pPr>
            <a:r>
              <a:rPr altLang="ru-RU"/>
              <a:t>Unga nom beramiz;</a:t>
            </a:r>
            <a:endParaRPr altLang="ru-RU"/>
          </a:p>
          <a:p>
            <a:pPr marL="514350" indent="-514350">
              <a:buAutoNum type="arabicPeriod"/>
            </a:pPr>
            <a:r>
              <a:rPr altLang="ru-RU"/>
              <a:t>() qo’yamiz;</a:t>
            </a:r>
            <a:endParaRPr altLang="ru-RU"/>
          </a:p>
          <a:p>
            <a:pPr marL="514350" indent="-514350">
              <a:buAutoNum type="arabicPeriod"/>
            </a:pPr>
            <a:r>
              <a:rPr altLang="ru-RU"/>
              <a:t>{ } lar orasiga funksiya vazifasini belgilaymiz.</a:t>
            </a:r>
            <a:endParaRPr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3" name="Замещающее содержимое 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1959610"/>
            <a:ext cx="5581015" cy="1966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2750185"/>
            <a:ext cx="5181600" cy="2501900"/>
          </a:xfrm>
        </p:spPr>
        <p:txBody>
          <a:bodyPr>
            <a:normAutofit lnSpcReduction="20000"/>
          </a:bodyPr>
          <a:p>
            <a:pPr indent="457200">
              <a:lnSpc>
                <a:spcPct val="120000"/>
              </a:lnSpc>
            </a:pPr>
            <a:r>
              <a:rPr lang="en-US" altLang="ru-RU">
                <a:solidFill>
                  <a:schemeClr val="tx1"/>
                </a:solidFill>
              </a:rPr>
              <a:t>Funksiyadan foydalanish uchun uni chaqirishimiz kerak bo’ladi </a:t>
            </a:r>
            <a:r>
              <a:rPr lang="en-US" altLang="ru-RU" sz="2400">
                <a:solidFill>
                  <a:schemeClr val="tx1"/>
                </a:solidFill>
              </a:rPr>
              <a:t>(xuddi telefonda gaplashish uchun, gudok jo’natilganidek)</a:t>
            </a:r>
            <a:r>
              <a:rPr lang="en-US" altLang="ru-RU">
                <a:solidFill>
                  <a:schemeClr val="tx1"/>
                </a:solidFill>
              </a:rPr>
              <a:t>.</a:t>
            </a:r>
            <a:endParaRPr lang="en-US" altLang="ru-RU">
              <a:solidFill>
                <a:schemeClr val="tx1"/>
              </a:solidFill>
            </a:endParaRPr>
          </a:p>
        </p:txBody>
      </p:sp>
      <p:sp>
        <p:nvSpPr>
          <p:cNvPr id="2" name="Замещающее содержимое 1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2291715"/>
            <a:ext cx="4053840" cy="906780"/>
          </a:xfrm>
          <a:prstGeom prst="rect">
            <a:avLst/>
          </a:prstGeom>
        </p:spPr>
      </p:pic>
      <p:pic>
        <p:nvPicPr>
          <p:cNvPr id="9" name="Замещающее содержимое 8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" y="3316605"/>
            <a:ext cx="1897380" cy="381000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253230"/>
            <a:ext cx="2727960" cy="883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 parametri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Agar qanday matn chiqishini o’zimiz belgilamoqchi bo’lganimizda, funksiya parametridan foydalanamiz. </a:t>
            </a:r>
            <a:r>
              <a:rPr lang="en-US" altLang="ru-RU">
                <a:solidFill>
                  <a:srgbClr val="FF0000"/>
                </a:solidFill>
              </a:rPr>
              <a:t>Funksiya parametri</a:t>
            </a:r>
            <a:r>
              <a:rPr lang="en-US" altLang="ru-RU"/>
              <a:t> () lar orasida yoziladi.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25920" y="3029585"/>
            <a:ext cx="4437380" cy="1298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 argumenti</a:t>
            </a:r>
            <a:endParaRPr lang="en-US" altLang="ru-RU" b="1"/>
          </a:p>
        </p:txBody>
      </p:sp>
      <p:sp>
        <p:nvSpPr>
          <p:cNvPr id="4" name="Замещающее содержимое 3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Qanday matn kiritishni funksiyani chaqirganimizda, argument sifatida beramiz.</a:t>
            </a:r>
            <a:endParaRPr lang="en-US" altLang="ru-RU"/>
          </a:p>
        </p:txBody>
      </p:sp>
      <p:pic>
        <p:nvPicPr>
          <p:cNvPr id="2" name="Замещающее содержимое 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3495" y="2283460"/>
            <a:ext cx="4790440" cy="231521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495" y="4885055"/>
            <a:ext cx="1560195" cy="855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2470785"/>
            <a:ext cx="5181600" cy="2834005"/>
          </a:xfrm>
        </p:spPr>
        <p:txBody>
          <a:bodyPr/>
          <a:p>
            <a:pPr indent="457200"/>
            <a:r>
              <a:rPr lang="en-US" altLang="ru-RU"/>
              <a:t>Funksiyani necha marta chaqirsak, uning ichidagi kodlar shuncha marta ishlaydi!</a:t>
            </a:r>
            <a:endParaRPr lang="en-US" altLang="ru-RU"/>
          </a:p>
        </p:txBody>
      </p:sp>
      <p:sp>
        <p:nvSpPr>
          <p:cNvPr id="2" name="Замещающее содержимое 1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2101215"/>
            <a:ext cx="3935730" cy="2591435"/>
          </a:xfrm>
          <a:prstGeom prst="rect">
            <a:avLst/>
          </a:prstGeom>
        </p:spPr>
      </p:pic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17440" y="3304540"/>
            <a:ext cx="15621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Funksiyani chaqirganda, unga argument bermasak, “undefined” qaytaradi. Shuning uchun, agar argument berilmagan holatda ishlashi uchun   default parametr bersak bo’ladi.</a:t>
            </a:r>
            <a:endParaRPr lang="en-US" altLang="ru-RU"/>
          </a:p>
        </p:txBody>
      </p:sp>
      <p:sp>
        <p:nvSpPr>
          <p:cNvPr id="3" name="Замещающее содержимое 2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7700" y="1717675"/>
            <a:ext cx="5181600" cy="2148840"/>
          </a:xfrm>
          <a:prstGeom prst="rect">
            <a:avLst/>
          </a:prstGeom>
        </p:spPr>
      </p:pic>
      <p:pic>
        <p:nvPicPr>
          <p:cNvPr id="9" name="Замещающее содержимое 8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700" y="3999865"/>
            <a:ext cx="215646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2" name="Замещающее содержимое 1"/>
          <p:cNvSpPr/>
          <p:nvPr>
            <p:ph sz="half" idx="2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Ushbu holatlarda funksiyamiz juda oddiy bo’lib qoldi va natijani consolega yoki alertga chiqarishdan boshqasiga yarashi qiyin. Shuning uchun “return” kalit so’zidan foydalanamiz.</a:t>
            </a:r>
            <a:endParaRPr lang="en-US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return</a:t>
            </a:r>
            <a:endParaRPr lang="en-US" altLang="ru-RU" b="1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>
          <a:xfrm>
            <a:off x="647700" y="1825625"/>
            <a:ext cx="5071745" cy="4351655"/>
          </a:xfrm>
        </p:spPr>
        <p:txBody>
          <a:bodyPr/>
          <a:p>
            <a:pPr indent="457200"/>
            <a:r>
              <a:rPr lang="en-US" altLang="ru-RU"/>
              <a:t>Tassavvur qiling, ikkita sonni yig’indisini hisoblaydigan funksiya yaratmoqchimiz va natijani boshqa o’zgaruvchiga qiymat sifatida bermoqchimiz.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1145" y="2155825"/>
            <a:ext cx="4542155" cy="213868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45" y="4502150"/>
            <a:ext cx="2002790" cy="108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return</a:t>
            </a:r>
            <a:endParaRPr lang="en-US" altLang="ru-RU" b="1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>
          <a:xfrm>
            <a:off x="647700" y="1825625"/>
            <a:ext cx="5174615" cy="4729480"/>
          </a:xfrm>
        </p:spPr>
        <p:txBody>
          <a:bodyPr>
            <a:normAutofit/>
          </a:bodyPr>
          <a:p>
            <a:pPr indent="457200"/>
            <a:r>
              <a:rPr lang="en-US" altLang="ru-RU"/>
              <a:t>Bunday hollarda, funksiya ma’lum qiymatni qaytarishi kerak. (ya’ni </a:t>
            </a:r>
            <a:r>
              <a:rPr lang="en-US" altLang="ru-RU">
                <a:solidFill>
                  <a:srgbClr val="FF0000"/>
                </a:solidFill>
              </a:rPr>
              <a:t>return </a:t>
            </a:r>
            <a:r>
              <a:rPr lang="en-US" altLang="ru-RU"/>
              <a:t>qilish kerak)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36690" y="2108835"/>
            <a:ext cx="3997960" cy="183896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30" y="4142105"/>
            <a:ext cx="1248410" cy="89344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991870" y="5093335"/>
            <a:ext cx="95434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ru-RU" sz="2400">
                <a:latin typeface="Calibri Light" panose="020F0302020204030204" pitchFamily="34" charset="0"/>
                <a:cs typeface="Calibri Light" panose="020F0302020204030204" pitchFamily="34" charset="0"/>
              </a:rPr>
              <a:t>Natijada, funksiya qaytargan qiymat berilgan “sum” nomli o’zgaruvchiga qiymat sifatida o’zlashdi.</a:t>
            </a:r>
            <a:endParaRPr lang="en-US" altLang="ru-RU" sz="240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>
          <a:xfrm>
            <a:off x="647700" y="1825625"/>
            <a:ext cx="5181600" cy="1696720"/>
          </a:xfrm>
        </p:spPr>
        <p:txBody>
          <a:bodyPr/>
          <a:p>
            <a:pPr indent="457200"/>
            <a:r>
              <a:rPr lang="en-US" altLang="ru-RU"/>
              <a:t>Funksiyada returndan keyin kelgan kodlar ishlamaydi!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3380105"/>
            <a:ext cx="4745355" cy="1562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Funksiyani chaqirish</a:t>
            </a:r>
            <a:endParaRPr lang="en-US" altLang="ru-RU" b="1"/>
          </a:p>
        </p:txBody>
      </p:sp>
      <p:sp>
        <p:nvSpPr>
          <p:cNvPr id="2" name="Замещающее содержимое 1"/>
          <p:cNvSpPr/>
          <p:nvPr>
            <p:ph sz="half" idx="1"/>
          </p:nvPr>
        </p:nvSpPr>
        <p:spPr>
          <a:xfrm>
            <a:off x="647700" y="1825625"/>
            <a:ext cx="5174615" cy="4729480"/>
          </a:xfrm>
        </p:spPr>
        <p:txBody>
          <a:bodyPr>
            <a:normAutofit/>
          </a:bodyPr>
          <a:p>
            <a:pPr indent="457200"/>
            <a:r>
              <a:rPr lang="en-US" altLang="ru-RU"/>
              <a:t>Agar funksiyani chaqirganda, () lar qo’ymasak, u holda funksiyaning return qiladigan qiymatini emas, balki funksiya obyektini o’zlashtirgan bo’lamiz.</a:t>
            </a:r>
            <a:endParaRPr lang="en-US" altLang="ru-RU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8795" y="2042160"/>
            <a:ext cx="3878580" cy="205740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795" y="4486910"/>
            <a:ext cx="3238500" cy="1341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Заголовок 5"/>
          <p:cNvSpPr/>
          <p:nvPr>
            <p:ph type="title"/>
          </p:nvPr>
        </p:nvSpPr>
        <p:spPr/>
        <p:txBody>
          <a:bodyPr/>
          <a:p>
            <a:r>
              <a:rPr lang="en-US" altLang="ru-RU" b="1"/>
              <a:t>Funksiya </a:t>
            </a:r>
            <a:endParaRPr lang="en-US" altLang="ru-RU" b="1"/>
          </a:p>
        </p:txBody>
      </p:sp>
      <p:sp>
        <p:nvSpPr>
          <p:cNvPr id="3" name="Замещающее содержимое 2"/>
          <p:cNvSpPr/>
          <p:nvPr>
            <p:ph sz="half" idx="1"/>
          </p:nvPr>
        </p:nvSpPr>
        <p:spPr/>
        <p:txBody>
          <a:bodyPr/>
          <a:p>
            <a:pPr indent="457200"/>
            <a:r>
              <a:rPr lang="en-US" altLang="ru-RU"/>
              <a:t>Funksiya ichida o’zgaruvchi yaratish ham mumkin.</a:t>
            </a:r>
            <a:endParaRPr lang="en-US" altLang="ru-RU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204720"/>
            <a:ext cx="4434205" cy="206756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65" y="4417695"/>
            <a:ext cx="1024890" cy="706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sz="half" idx="1"/>
          </p:nvPr>
        </p:nvSpPr>
        <p:spPr>
          <a:xfrm>
            <a:off x="647700" y="1584325"/>
            <a:ext cx="6309995" cy="4351655"/>
          </a:xfrm>
        </p:spPr>
        <p:txBody>
          <a:bodyPr/>
          <a:p>
            <a:pPr indent="457200"/>
            <a:r>
              <a:rPr lang="en-US" altLang="ru-RU"/>
              <a:t>Funksiya ichida yaratgan o’zgaruvchimizni, funksiya tashqarisida ishlata olmaymiz!</a:t>
            </a:r>
            <a:endParaRPr lang="en-US" altLang="ru-RU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3496945"/>
            <a:ext cx="4823460" cy="2842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2" name="Замещающее содержимое 1"/>
          <p:cNvSpPr/>
          <p:nvPr>
            <p:ph idx="1"/>
          </p:nvPr>
        </p:nvSpPr>
        <p:spPr>
          <a:xfrm>
            <a:off x="647700" y="2603500"/>
            <a:ext cx="6285230" cy="2416175"/>
          </a:xfrm>
        </p:spPr>
        <p:txBody>
          <a:bodyPr/>
          <a:p>
            <a:r>
              <a:rPr lang="en-US" altLang="ru-RU"/>
              <a:t>  </a:t>
            </a:r>
            <a:endParaRPr lang="en-US" altLang="ru-RU"/>
          </a:p>
        </p:txBody>
      </p:sp>
      <p:sp>
        <p:nvSpPr>
          <p:cNvPr id="107" name="Текстовое поле 106"/>
          <p:cNvSpPr txBox="1"/>
          <p:nvPr/>
        </p:nvSpPr>
        <p:spPr>
          <a:xfrm>
            <a:off x="647700" y="1691640"/>
            <a:ext cx="6217920" cy="44519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>
              <a:lnSpc>
                <a:spcPct val="110000"/>
              </a:lnSpc>
            </a:pP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1-</a:t>
            </a:r>
            <a:r>
              <a:rPr lang="en-US" altLang="en-US" sz="2400" b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vazifa</a:t>
            </a: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: Doiraning yuzasini hisoblaydigan funksiya yarating. Doira radiusini argument sifatida berib, funksiyani 3 marta chaqiring.</a:t>
            </a:r>
            <a:endParaRPr lang="en-US" altLang="en-US" sz="2400" b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  <a:p>
            <a:pPr indent="0">
              <a:lnSpc>
                <a:spcPct val="110000"/>
              </a:lnSpc>
            </a:pPr>
            <a:endParaRPr lang="en-US" altLang="en-US" sz="2400" b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  <a:p>
            <a:pPr indent="0">
              <a:lnSpc>
                <a:spcPct val="110000"/>
              </a:lnSpc>
            </a:pP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2-</a:t>
            </a:r>
            <a:r>
              <a:rPr lang="en-US" altLang="en-US" sz="2400" b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vazifa</a:t>
            </a: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:  O’z ichiga 3 ta argument qabul qiladigan va argument sifatida kiritilgan sonlarning nechtasi 5 ga karrali ekanini hisoblovchi funksiya yarating.</a:t>
            </a:r>
            <a:endParaRPr lang="en-US" altLang="en-US" sz="2400" b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  <a:p>
            <a:pPr indent="0">
              <a:lnSpc>
                <a:spcPct val="110000"/>
              </a:lnSpc>
            </a:pPr>
            <a:endParaRPr lang="en-US" altLang="en-US" sz="2400" b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  <a:p>
            <a:pPr indent="0">
              <a:lnSpc>
                <a:spcPct val="110000"/>
              </a:lnSpc>
            </a:pP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3-</a:t>
            </a:r>
            <a:r>
              <a:rPr lang="en-US" altLang="en-US" sz="2400" b="1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vazifa</a:t>
            </a:r>
            <a:r>
              <a:rPr lang="en-US" altLang="en-US" sz="2400" b="0">
                <a:latin typeface="Calibri Light" panose="020F0302020204030204" pitchFamily="34" charset="0"/>
                <a:ea typeface="SimSun" panose="02010600030101010101" pitchFamily="2" charset="-122"/>
                <a:cs typeface="Calibri Light" panose="020F0302020204030204" pitchFamily="34" charset="0"/>
              </a:rPr>
              <a:t>: Berilgan 2 xonali sonning raqamlar yig’indisini hisoblovchi funksiya yarating va kamida 3 marta tasodifiy sonlar bilan chaqiring.</a:t>
            </a:r>
            <a:endParaRPr lang="en-US" altLang="en-US" sz="2400" b="0">
              <a:latin typeface="Calibri Light" panose="020F0302020204030204" pitchFamily="34" charset="0"/>
              <a:ea typeface="SimSun" panose="02010600030101010101" pitchFamily="2" charset="-122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Замещающее содержимое 4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2726</Words>
  <Application>WPS Presentation</Application>
  <PresentationFormat>宽屏</PresentationFormat>
  <Paragraphs>79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Function</vt:lpstr>
      <vt:lpstr>Reja:</vt:lpstr>
      <vt:lpstr>Funksiya nima?</vt:lpstr>
      <vt:lpstr>PowerPoint 演示文稿</vt:lpstr>
      <vt:lpstr>JavaScriptda funksiya</vt:lpstr>
      <vt:lpstr>Funksiya yaratish</vt:lpstr>
      <vt:lpstr>PowerPoint 演示文稿</vt:lpstr>
      <vt:lpstr>PowerPoint 演示文稿</vt:lpstr>
      <vt:lpstr>PowerPoint 演示文稿</vt:lpstr>
      <vt:lpstr>PowerPoint 演示文稿</vt:lpstr>
      <vt:lpstr>Mantiqiy operatorlar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Mantiqiy operatorlar (&amp;&amp;)</vt:lpstr>
      <vt:lpstr>Mantiqiy operatorlar (||)</vt:lpstr>
      <vt:lpstr>PowerPoint 演示文稿</vt:lpstr>
      <vt:lpstr>Mantiqiy operatorlar (!)</vt:lpstr>
      <vt:lpstr>Topshiriq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Nurmuhammad Ikromov</cp:lastModifiedBy>
  <cp:revision>49</cp:revision>
  <dcterms:created xsi:type="dcterms:W3CDTF">2023-08-17T08:58:00Z</dcterms:created>
  <dcterms:modified xsi:type="dcterms:W3CDTF">2024-02-26T16:32:41Z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1049-12.2.0.13431</vt:lpwstr>
  </property>
  <property fmtid="{D5CDD505-2E9C-101B-9397-08002B2CF9AE}" pid="3" name="ICV">
    <vt:lpwstr>D4FB6AD536E94978BA2CFC27D6189C6B_13</vt:lpwstr>
  </property>
</Properties>
</file>